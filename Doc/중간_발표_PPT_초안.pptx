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05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  <a:latin typeface="맑은 고딕"/>
              </a:rPr>
              <a:t>건국대학교  ·  2026-1  가상현실[3221]  ·  중간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1A2E"/>
                </a:solidFill>
                <a:latin typeface="맑은 고딕"/>
              </a:rPr>
              <a:t>VR 멀미 저감을 위한
교차 감각 기반
점진적 시각 동기화 기법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645A8"/>
                </a:solidFill>
                <a:latin typeface="맑은 고딕"/>
              </a:rPr>
              <a:t>Progressive Visual Synchronization via Cross-modal Sensory Adaptation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617720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  <a:latin typeface="맑은 고딕"/>
              </a:rPr>
              <a:t>3팀  |  정근녕  ·  이수민  ·  곽경민  |  담당: 김형석 교수님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맑은 고딕"/>
              </a:rPr>
              <a:t>목  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94360" cy="411480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280160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2E"/>
                </a:solidFill>
                <a:latin typeface="맑은 고딕"/>
              </a:rPr>
              <a:t>왜 VR이 멀미를 유발하는가?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2801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666666"/>
                </a:solidFill>
                <a:latin typeface="맑은 고딕"/>
              </a:rPr>
              <a:t>연구 배경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09167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94360" cy="411480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40280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2E"/>
                </a:solidFill>
                <a:latin typeface="맑은 고딕"/>
              </a:rPr>
              <a:t>우리의 해결 방법: 3단계 적응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2402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666666"/>
                </a:solidFill>
                <a:latin typeface="맑은 고딕"/>
              </a:rPr>
              <a:t>연구 목표 및 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1109167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594360" cy="411480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2E"/>
                </a:solidFill>
                <a:latin typeface="맑은 고딕"/>
              </a:rPr>
              <a:t>지금까지 만든 것들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666666"/>
                </a:solidFill>
                <a:latin typeface="맑은 고딕"/>
              </a:rPr>
              <a:t>구현 현황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1109167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206240"/>
            <a:ext cx="594360" cy="411480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160520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2E"/>
                </a:solidFill>
                <a:latin typeface="맑은 고딕"/>
              </a:rPr>
              <a:t>앞으로 할 것들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1605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666666"/>
                </a:solidFill>
                <a:latin typeface="맑은 고딕"/>
              </a:rPr>
              <a:t>향후 계획 및 실험 일정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00600"/>
            <a:ext cx="1109167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5166360"/>
            <a:ext cx="594360" cy="411480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120640"/>
            <a:ext cx="6858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100" b="1" i="0" dirty="0">
                <a:solidFill>
                  <a:srgbClr val="1A1A2E"/>
                </a:solidFill>
                <a:latin typeface="맑은 고딕"/>
              </a:rPr>
              <a:t>역할분배</a:t>
            </a:r>
            <a:endParaRPr sz="2100" b="1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0" y="51206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666666"/>
                </a:solidFill>
                <a:latin typeface="맑은 고딕"/>
              </a:rPr>
              <a:t>역할 분담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rgbClr val="1A1A2E"/>
                </a:solidFill>
                <a:latin typeface="+mj-lt"/>
              </a:rPr>
              <a:t>왜 </a:t>
            </a:r>
            <a:r>
              <a:rPr sz="3000" b="1" i="0" dirty="0" err="1">
                <a:solidFill>
                  <a:srgbClr val="1A1A2E"/>
                </a:solidFill>
                <a:latin typeface="+mj-lt"/>
              </a:rPr>
              <a:t>VR은</a:t>
            </a:r>
            <a:r>
              <a:rPr sz="3000" b="1" i="0" dirty="0">
                <a:solidFill>
                  <a:srgbClr val="1A1A2E"/>
                </a:solidFill>
                <a:latin typeface="+mj-lt"/>
              </a:rPr>
              <a:t> </a:t>
            </a:r>
            <a:r>
              <a:rPr sz="3000" b="1" i="0" dirty="0" err="1">
                <a:solidFill>
                  <a:srgbClr val="1A1A2E"/>
                </a:solidFill>
                <a:latin typeface="+mj-lt"/>
              </a:rPr>
              <a:t>멀미를</a:t>
            </a:r>
            <a:r>
              <a:rPr sz="3000" b="1" i="0" dirty="0">
                <a:solidFill>
                  <a:srgbClr val="1A1A2E"/>
                </a:solidFill>
                <a:latin typeface="+mj-lt"/>
              </a:rPr>
              <a:t> </a:t>
            </a:r>
            <a:r>
              <a:rPr sz="3000" b="1" i="0" dirty="0" err="1">
                <a:solidFill>
                  <a:srgbClr val="1A1A2E"/>
                </a:solidFill>
                <a:latin typeface="+mj-lt"/>
              </a:rPr>
              <a:t>유발하는가</a:t>
            </a:r>
            <a:r>
              <a:rPr sz="3000" b="1" i="0" dirty="0">
                <a:solidFill>
                  <a:srgbClr val="1A1A2E"/>
                </a:solidFill>
                <a:latin typeface="+mj-lt"/>
              </a:rPr>
              <a:t>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2E"/>
                </a:solidFill>
                <a:latin typeface="+mj-lt"/>
              </a:rPr>
              <a:t>뇌의 예측  ≠  실제 감각 입력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148840"/>
            <a:ext cx="8531352" cy="19050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BCA6BD8-18AD-A7E2-9F28-CA30F7E7C7BE}"/>
              </a:ext>
            </a:extLst>
          </p:cNvPr>
          <p:cNvGrpSpPr/>
          <p:nvPr/>
        </p:nvGrpSpPr>
        <p:grpSpPr>
          <a:xfrm>
            <a:off x="812939" y="2977757"/>
            <a:ext cx="4211644" cy="2655848"/>
            <a:chOff x="443484" y="2325716"/>
            <a:chExt cx="4211644" cy="2312670"/>
          </a:xfrm>
        </p:grpSpPr>
        <p:sp>
          <p:nvSpPr>
            <p:cNvPr id="6" name="Rectangle 5"/>
            <p:cNvSpPr/>
            <p:nvPr/>
          </p:nvSpPr>
          <p:spPr>
            <a:xfrm>
              <a:off x="484505" y="2325716"/>
              <a:ext cx="4170622" cy="2312670"/>
            </a:xfrm>
            <a:prstGeom prst="rect">
              <a:avLst/>
            </a:prstGeom>
            <a:solidFill>
              <a:srgbClr val="EE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+mj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43484" y="2417156"/>
              <a:ext cx="4211643" cy="321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i="0" dirty="0" err="1">
                  <a:solidFill>
                    <a:srgbClr val="1645A8"/>
                  </a:solidFill>
                  <a:latin typeface="+mj-lt"/>
                </a:rPr>
                <a:t>현실</a:t>
              </a:r>
              <a:r>
                <a:rPr sz="1800" b="1" i="0" dirty="0">
                  <a:solidFill>
                    <a:srgbClr val="1645A8"/>
                  </a:solidFill>
                  <a:latin typeface="+mj-lt"/>
                </a:rPr>
                <a:t> </a:t>
              </a:r>
              <a:r>
                <a:rPr sz="1800" b="1" i="0" dirty="0" err="1">
                  <a:solidFill>
                    <a:srgbClr val="1645A8"/>
                  </a:solidFill>
                  <a:latin typeface="+mj-lt"/>
                </a:rPr>
                <a:t>세계</a:t>
              </a:r>
              <a:endParaRPr sz="1800" b="1" i="0" dirty="0">
                <a:solidFill>
                  <a:srgbClr val="1645A8"/>
                </a:solidFill>
                <a:latin typeface="+mj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4506" y="2920076"/>
              <a:ext cx="4170622" cy="1299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700" b="0" dirty="0">
                  <a:solidFill>
                    <a:srgbClr val="1A1A2E"/>
                  </a:solidFill>
                  <a:latin typeface="+mj-lt"/>
                </a:rPr>
                <a:t>현실 세계에서 </a:t>
              </a:r>
              <a:r>
                <a:rPr sz="1700" b="0" dirty="0" err="1">
                  <a:solidFill>
                    <a:srgbClr val="1A1A2E"/>
                  </a:solidFill>
                  <a:latin typeface="+mj-lt"/>
                </a:rPr>
                <a:t>경험으로</a:t>
              </a:r>
              <a:r>
                <a:rPr sz="1700" b="0" dirty="0">
                  <a:solidFill>
                    <a:srgbClr val="1A1A2E"/>
                  </a:solidFill>
                  <a:latin typeface="+mj-lt"/>
                </a:rPr>
                <a:t> </a:t>
              </a:r>
              <a:r>
                <a:rPr sz="1700" b="0" dirty="0" err="1">
                  <a:solidFill>
                    <a:srgbClr val="1A1A2E"/>
                  </a:solidFill>
                  <a:latin typeface="+mj-lt"/>
                </a:rPr>
                <a:t>형성된</a:t>
              </a:r>
              <a:endParaRPr sz="1700" b="0" dirty="0">
                <a:solidFill>
                  <a:srgbClr val="1A1A2E"/>
                </a:solidFill>
                <a:latin typeface="+mj-lt"/>
              </a:endParaRPr>
            </a:p>
            <a:p>
              <a:pPr algn="ctr"/>
              <a:r>
                <a:rPr sz="2000" b="1" dirty="0">
                  <a:solidFill>
                    <a:srgbClr val="1645A8"/>
                  </a:solidFill>
                  <a:latin typeface="+mj-lt"/>
                </a:rPr>
                <a:t>'</a:t>
              </a:r>
              <a:r>
                <a:rPr sz="2000" b="1" dirty="0" err="1">
                  <a:solidFill>
                    <a:srgbClr val="1645A8"/>
                  </a:solidFill>
                  <a:latin typeface="+mj-lt"/>
                </a:rPr>
                <a:t>감각</a:t>
              </a:r>
              <a:r>
                <a:rPr sz="2000" b="1" dirty="0">
                  <a:solidFill>
                    <a:srgbClr val="1645A8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1645A8"/>
                  </a:solidFill>
                  <a:latin typeface="+mj-lt"/>
                </a:rPr>
                <a:t>예측</a:t>
              </a:r>
              <a:r>
                <a:rPr sz="2000" b="1" dirty="0">
                  <a:solidFill>
                    <a:srgbClr val="1645A8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1645A8"/>
                  </a:solidFill>
                  <a:latin typeface="+mj-lt"/>
                </a:rPr>
                <a:t>모델</a:t>
              </a:r>
              <a:r>
                <a:rPr sz="2000" b="1" dirty="0">
                  <a:solidFill>
                    <a:srgbClr val="1645A8"/>
                  </a:solidFill>
                  <a:latin typeface="+mj-lt"/>
                </a:rPr>
                <a:t>'</a:t>
              </a:r>
            </a:p>
            <a:p>
              <a:pPr algn="ctr"/>
              <a:endParaRPr sz="2000" b="1" dirty="0">
                <a:solidFill>
                  <a:srgbClr val="1645A8"/>
                </a:solidFill>
                <a:latin typeface="+mj-lt"/>
              </a:endParaRPr>
            </a:p>
            <a:p>
              <a:pPr algn="ctr"/>
              <a:r>
                <a:rPr sz="1700" b="0" dirty="0" err="1">
                  <a:solidFill>
                    <a:srgbClr val="1A1A2E"/>
                  </a:solidFill>
                  <a:latin typeface="+mj-lt"/>
                </a:rPr>
                <a:t>시각</a:t>
              </a:r>
              <a:r>
                <a:rPr sz="1700" b="0" dirty="0">
                  <a:solidFill>
                    <a:srgbClr val="1A1A2E"/>
                  </a:solidFill>
                  <a:latin typeface="+mj-lt"/>
                </a:rPr>
                <a:t>  ↔  </a:t>
              </a:r>
              <a:r>
                <a:rPr sz="1700" b="0" dirty="0" err="1">
                  <a:solidFill>
                    <a:srgbClr val="1A1A2E"/>
                  </a:solidFill>
                  <a:latin typeface="+mj-lt"/>
                </a:rPr>
                <a:t>전정기관</a:t>
              </a:r>
              <a:r>
                <a:rPr sz="1700" b="0" dirty="0">
                  <a:solidFill>
                    <a:srgbClr val="1A1A2E"/>
                  </a:solidFill>
                  <a:latin typeface="+mj-lt"/>
                </a:rPr>
                <a:t>  ↔  </a:t>
              </a:r>
              <a:r>
                <a:rPr sz="1700" b="0" dirty="0" err="1">
                  <a:solidFill>
                    <a:srgbClr val="1A1A2E"/>
                  </a:solidFill>
                  <a:latin typeface="+mj-lt"/>
                </a:rPr>
                <a:t>촉각</a:t>
              </a:r>
              <a:br>
                <a:rPr lang="en-US" sz="1700" b="0" dirty="0">
                  <a:solidFill>
                    <a:srgbClr val="1A1A2E"/>
                  </a:solidFill>
                  <a:latin typeface="+mj-lt"/>
                </a:rPr>
              </a:br>
              <a:r>
                <a:rPr lang="ko-KR" altLang="en-US" sz="1700" b="0" dirty="0">
                  <a:solidFill>
                    <a:srgbClr val="1A1A2E"/>
                  </a:solidFill>
                  <a:latin typeface="+mj-lt"/>
                </a:rPr>
                <a:t>상호작용에 대한 감각 예측이 개인별로 존재</a:t>
              </a:r>
              <a:endParaRPr sz="1700" b="0" dirty="0">
                <a:solidFill>
                  <a:srgbClr val="1A1A2E"/>
                </a:solidFill>
                <a:latin typeface="+mj-lt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5581535" y="3918649"/>
            <a:ext cx="822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 err="1">
                <a:solidFill>
                  <a:srgbClr val="CC4400"/>
                </a:solidFill>
                <a:latin typeface="+mj-lt"/>
              </a:rPr>
              <a:t>충돌</a:t>
            </a:r>
            <a:endParaRPr sz="2200" b="1" i="0" dirty="0">
              <a:solidFill>
                <a:srgbClr val="CC4400"/>
              </a:solidFill>
              <a:latin typeface="+mj-lt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B863238-028C-08FC-8760-D9272B0E1E82}"/>
              </a:ext>
            </a:extLst>
          </p:cNvPr>
          <p:cNvGrpSpPr/>
          <p:nvPr/>
        </p:nvGrpSpPr>
        <p:grpSpPr>
          <a:xfrm>
            <a:off x="6404495" y="3020798"/>
            <a:ext cx="4846320" cy="3014242"/>
            <a:chOff x="6675120" y="2286000"/>
            <a:chExt cx="4846320" cy="2226588"/>
          </a:xfrm>
        </p:grpSpPr>
        <p:sp>
          <p:nvSpPr>
            <p:cNvPr id="10" name="Rectangle 9"/>
            <p:cNvSpPr/>
            <p:nvPr/>
          </p:nvSpPr>
          <p:spPr>
            <a:xfrm>
              <a:off x="7278254" y="2286000"/>
              <a:ext cx="3639127" cy="2226588"/>
            </a:xfrm>
            <a:prstGeom prst="rect">
              <a:avLst/>
            </a:prstGeom>
            <a:solidFill>
              <a:srgbClr val="FFF2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675120" y="2377440"/>
              <a:ext cx="4846320" cy="272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i="0">
                  <a:solidFill>
                    <a:srgbClr val="CC4400"/>
                  </a:solidFill>
                  <a:latin typeface="+mj-lt"/>
                </a:rPr>
                <a:t>VR 세계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75120" y="2880360"/>
              <a:ext cx="4846320" cy="12959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700" b="0" dirty="0" err="1">
                  <a:solidFill>
                    <a:srgbClr val="1A1A2E"/>
                  </a:solidFill>
                  <a:latin typeface="+mj-lt"/>
                </a:rPr>
                <a:t>헤드셋</a:t>
              </a:r>
              <a:r>
                <a:rPr sz="1700" b="0" dirty="0">
                  <a:solidFill>
                    <a:srgbClr val="1A1A2E"/>
                  </a:solidFill>
                  <a:latin typeface="+mj-lt"/>
                </a:rPr>
                <a:t> </a:t>
              </a:r>
              <a:r>
                <a:rPr sz="1700" b="0" dirty="0" err="1">
                  <a:solidFill>
                    <a:srgbClr val="1A1A2E"/>
                  </a:solidFill>
                  <a:latin typeface="+mj-lt"/>
                </a:rPr>
                <a:t>착용</a:t>
              </a:r>
              <a:r>
                <a:rPr sz="1700" b="0" dirty="0">
                  <a:solidFill>
                    <a:srgbClr val="1A1A2E"/>
                  </a:solidFill>
                  <a:latin typeface="+mj-lt"/>
                </a:rPr>
                <a:t> </a:t>
              </a:r>
              <a:r>
                <a:rPr sz="1700" b="0" dirty="0" err="1">
                  <a:solidFill>
                    <a:srgbClr val="1A1A2E"/>
                  </a:solidFill>
                  <a:latin typeface="+mj-lt"/>
                </a:rPr>
                <a:t>즉시</a:t>
              </a:r>
              <a:endParaRPr sz="1700" b="0" dirty="0">
                <a:solidFill>
                  <a:srgbClr val="1A1A2E"/>
                </a:solidFill>
                <a:latin typeface="+mj-lt"/>
              </a:endParaRPr>
            </a:p>
            <a:p>
              <a:pPr algn="ctr"/>
              <a:r>
                <a:rPr sz="2000" b="1" dirty="0" err="1">
                  <a:solidFill>
                    <a:srgbClr val="CC4400"/>
                  </a:solidFill>
                  <a:latin typeface="+mj-lt"/>
                </a:rPr>
                <a:t>기존</a:t>
              </a:r>
              <a:r>
                <a:rPr sz="2000" b="1" dirty="0">
                  <a:solidFill>
                    <a:srgbClr val="CC4400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CC4400"/>
                  </a:solidFill>
                  <a:latin typeface="+mj-lt"/>
                </a:rPr>
                <a:t>예측</a:t>
              </a:r>
              <a:r>
                <a:rPr sz="2000" b="1" dirty="0">
                  <a:solidFill>
                    <a:srgbClr val="CC4400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CC4400"/>
                  </a:solidFill>
                  <a:latin typeface="+mj-lt"/>
                </a:rPr>
                <a:t>모델과</a:t>
              </a:r>
              <a:r>
                <a:rPr sz="2000" b="1" dirty="0">
                  <a:solidFill>
                    <a:srgbClr val="CC4400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CC4400"/>
                  </a:solidFill>
                  <a:latin typeface="+mj-lt"/>
                </a:rPr>
                <a:t>전혀</a:t>
              </a:r>
              <a:r>
                <a:rPr sz="2000" b="1" dirty="0">
                  <a:solidFill>
                    <a:srgbClr val="CC4400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CC4400"/>
                  </a:solidFill>
                  <a:latin typeface="+mj-lt"/>
                </a:rPr>
                <a:t>다른</a:t>
              </a:r>
              <a:endParaRPr sz="2000" b="1" dirty="0">
                <a:solidFill>
                  <a:srgbClr val="CC4400"/>
                </a:solidFill>
                <a:latin typeface="+mj-lt"/>
              </a:endParaRPr>
            </a:p>
            <a:p>
              <a:pPr algn="ctr"/>
              <a:endParaRPr sz="2000" b="1" dirty="0">
                <a:solidFill>
                  <a:srgbClr val="CC4400"/>
                </a:solidFill>
                <a:latin typeface="+mj-lt"/>
              </a:endParaRPr>
            </a:p>
            <a:p>
              <a:pPr algn="ctr"/>
              <a:r>
                <a:rPr sz="1700" b="0" dirty="0" err="1">
                  <a:solidFill>
                    <a:srgbClr val="1A1A2E"/>
                  </a:solidFill>
                  <a:latin typeface="+mj-lt"/>
                </a:rPr>
                <a:t>시각은</a:t>
              </a:r>
              <a:r>
                <a:rPr sz="1700" b="0" dirty="0">
                  <a:solidFill>
                    <a:srgbClr val="1A1A2E"/>
                  </a:solidFill>
                  <a:latin typeface="+mj-lt"/>
                </a:rPr>
                <a:t> </a:t>
              </a:r>
              <a:r>
                <a:rPr sz="1700" b="0" dirty="0" err="1">
                  <a:solidFill>
                    <a:srgbClr val="1A1A2E"/>
                  </a:solidFill>
                  <a:latin typeface="+mj-lt"/>
                </a:rPr>
                <a:t>이동</a:t>
              </a:r>
              <a:r>
                <a:rPr sz="1700" b="0" dirty="0">
                  <a:solidFill>
                    <a:srgbClr val="1A1A2E"/>
                  </a:solidFill>
                  <a:latin typeface="+mj-lt"/>
                </a:rPr>
                <a:t>  </a:t>
              </a:r>
              <a:r>
                <a:rPr lang="en-US" sz="1700" b="0" dirty="0">
                  <a:solidFill>
                    <a:srgbClr val="1A1A2E"/>
                  </a:solidFill>
                  <a:latin typeface="+mj-lt"/>
                </a:rPr>
                <a:t>&lt;&gt;</a:t>
              </a:r>
              <a:r>
                <a:rPr sz="1700" b="0" dirty="0">
                  <a:solidFill>
                    <a:srgbClr val="1A1A2E"/>
                  </a:solidFill>
                  <a:latin typeface="+mj-lt"/>
                </a:rPr>
                <a:t>  </a:t>
              </a:r>
              <a:r>
                <a:rPr sz="1700" b="0" dirty="0" err="1">
                  <a:solidFill>
                    <a:srgbClr val="1A1A2E"/>
                  </a:solidFill>
                  <a:latin typeface="+mj-lt"/>
                </a:rPr>
                <a:t>몸은</a:t>
              </a:r>
              <a:r>
                <a:rPr sz="1700" b="0" dirty="0">
                  <a:solidFill>
                    <a:srgbClr val="1A1A2E"/>
                  </a:solidFill>
                  <a:latin typeface="+mj-lt"/>
                </a:rPr>
                <a:t> </a:t>
              </a:r>
              <a:r>
                <a:rPr sz="1700" b="0" dirty="0" err="1">
                  <a:solidFill>
                    <a:srgbClr val="1A1A2E"/>
                  </a:solidFill>
                  <a:latin typeface="+mj-lt"/>
                </a:rPr>
                <a:t>정지</a:t>
              </a:r>
              <a:endParaRPr lang="en-US" sz="1700" b="0" dirty="0">
                <a:solidFill>
                  <a:srgbClr val="1A1A2E"/>
                </a:solidFill>
                <a:latin typeface="+mj-lt"/>
              </a:endParaRPr>
            </a:p>
            <a:p>
              <a:pPr algn="ctr"/>
              <a:r>
                <a:rPr lang="ko-KR" altLang="en-US" sz="1700" b="0" dirty="0">
                  <a:solidFill>
                    <a:srgbClr val="1A1A2E"/>
                  </a:solidFill>
                  <a:latin typeface="+mj-lt"/>
                </a:rPr>
                <a:t>실제 우리가 예상한 것보다 더 회전 등</a:t>
              </a:r>
              <a:endParaRPr sz="1700" b="0" dirty="0">
                <a:solidFill>
                  <a:srgbClr val="1A1A2E"/>
                </a:solidFill>
                <a:latin typeface="+mj-lt"/>
              </a:endParaRPr>
            </a:p>
            <a:p>
              <a:pPr algn="ctr"/>
              <a:r>
                <a:rPr lang="en-US" sz="1700" dirty="0">
                  <a:solidFill>
                    <a:srgbClr val="1A1A2E"/>
                  </a:solidFill>
                  <a:latin typeface="+mj-lt"/>
                </a:rPr>
                <a:t>-&gt;</a:t>
              </a:r>
              <a:r>
                <a:rPr sz="1700" b="0" dirty="0">
                  <a:solidFill>
                    <a:srgbClr val="1A1A2E"/>
                  </a:solidFill>
                  <a:latin typeface="+mj-lt"/>
                </a:rPr>
                <a:t> </a:t>
              </a:r>
              <a:r>
                <a:rPr sz="1700" b="0" dirty="0" err="1">
                  <a:solidFill>
                    <a:srgbClr val="1A1A2E"/>
                  </a:solidFill>
                  <a:latin typeface="+mj-lt"/>
                </a:rPr>
                <a:t>멀미</a:t>
              </a:r>
              <a:r>
                <a:rPr sz="1700" b="0" dirty="0">
                  <a:solidFill>
                    <a:srgbClr val="1A1A2E"/>
                  </a:solidFill>
                  <a:latin typeface="+mj-lt"/>
                </a:rPr>
                <a:t>(Cybersickness) </a:t>
              </a:r>
              <a:r>
                <a:rPr sz="1700" b="0" dirty="0" err="1">
                  <a:solidFill>
                    <a:srgbClr val="1A1A2E"/>
                  </a:solidFill>
                  <a:latin typeface="+mj-lt"/>
                </a:rPr>
                <a:t>발생</a:t>
              </a:r>
              <a:endParaRPr sz="1700" b="0" dirty="0">
                <a:solidFill>
                  <a:srgbClr val="1A1A2E"/>
                </a:solidFill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+mj-lt"/>
              </a:rPr>
              <a:t>우리의 접근: 뇌를 적응시킨다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 err="1">
                <a:solidFill>
                  <a:srgbClr val="1A1A2E"/>
                </a:solidFill>
                <a:latin typeface="+mj-lt"/>
              </a:rPr>
              <a:t>멀미를</a:t>
            </a:r>
            <a:r>
              <a:rPr sz="3000" b="1" i="0" dirty="0">
                <a:solidFill>
                  <a:srgbClr val="1A1A2E"/>
                </a:solidFill>
                <a:latin typeface="+mj-lt"/>
              </a:rPr>
              <a:t> '</a:t>
            </a:r>
            <a:r>
              <a:rPr sz="3000" b="1" i="0" dirty="0" err="1">
                <a:solidFill>
                  <a:srgbClr val="1A1A2E"/>
                </a:solidFill>
                <a:latin typeface="+mj-lt"/>
              </a:rPr>
              <a:t>피하는</a:t>
            </a:r>
            <a:r>
              <a:rPr lang="en-US" sz="3000" b="1" dirty="0">
                <a:solidFill>
                  <a:srgbClr val="1A1A2E"/>
                </a:solidFill>
                <a:latin typeface="+mj-lt"/>
              </a:rPr>
              <a:t>'</a:t>
            </a:r>
            <a:r>
              <a:rPr sz="3000" b="1" i="0" dirty="0">
                <a:solidFill>
                  <a:srgbClr val="1A1A2E"/>
                </a:solidFill>
                <a:latin typeface="+mj-lt"/>
              </a:rPr>
              <a:t> </a:t>
            </a:r>
            <a:r>
              <a:rPr sz="3000" b="1" i="0" dirty="0" err="1">
                <a:solidFill>
                  <a:srgbClr val="1A1A2E"/>
                </a:solidFill>
                <a:latin typeface="+mj-lt"/>
              </a:rPr>
              <a:t>것이</a:t>
            </a:r>
            <a:r>
              <a:rPr sz="3000" b="1" i="0" dirty="0">
                <a:solidFill>
                  <a:srgbClr val="1A1A2E"/>
                </a:solidFill>
                <a:latin typeface="+mj-lt"/>
              </a:rPr>
              <a:t> </a:t>
            </a:r>
            <a:r>
              <a:rPr sz="3000" b="1" i="0" dirty="0" err="1">
                <a:solidFill>
                  <a:srgbClr val="1A1A2E"/>
                </a:solidFill>
                <a:latin typeface="+mj-lt"/>
              </a:rPr>
              <a:t>아니라</a:t>
            </a:r>
            <a:r>
              <a:rPr sz="3000" b="1" i="0" dirty="0">
                <a:solidFill>
                  <a:srgbClr val="1A1A2E"/>
                </a:solidFill>
                <a:latin typeface="+mj-lt"/>
              </a:rPr>
              <a:t>
</a:t>
            </a:r>
            <a:r>
              <a:rPr sz="3000" b="1" i="0" dirty="0" err="1">
                <a:solidFill>
                  <a:srgbClr val="1A1A2E"/>
                </a:solidFill>
                <a:latin typeface="+mj-lt"/>
              </a:rPr>
              <a:t>뇌의</a:t>
            </a:r>
            <a:r>
              <a:rPr sz="3000" b="1" i="0" dirty="0">
                <a:solidFill>
                  <a:srgbClr val="1A1A2E"/>
                </a:solidFill>
                <a:latin typeface="+mj-lt"/>
              </a:rPr>
              <a:t> </a:t>
            </a:r>
            <a:r>
              <a:rPr sz="3000" b="1" i="0" dirty="0" err="1">
                <a:solidFill>
                  <a:srgbClr val="1A1A2E"/>
                </a:solidFill>
                <a:latin typeface="+mj-lt"/>
              </a:rPr>
              <a:t>예측</a:t>
            </a:r>
            <a:r>
              <a:rPr sz="3000" b="1" i="0" dirty="0">
                <a:solidFill>
                  <a:srgbClr val="1A1A2E"/>
                </a:solidFill>
                <a:latin typeface="+mj-lt"/>
              </a:rPr>
              <a:t> </a:t>
            </a:r>
            <a:r>
              <a:rPr sz="3000" b="1" i="0" dirty="0" err="1">
                <a:solidFill>
                  <a:srgbClr val="1A1A2E"/>
                </a:solidFill>
                <a:latin typeface="+mj-lt"/>
              </a:rPr>
              <a:t>모델</a:t>
            </a:r>
            <a:r>
              <a:rPr sz="3000" b="1" i="0" dirty="0">
                <a:solidFill>
                  <a:srgbClr val="1A1A2E"/>
                </a:solidFill>
                <a:latin typeface="+mj-lt"/>
              </a:rPr>
              <a:t> </a:t>
            </a:r>
            <a:r>
              <a:rPr sz="3000" b="1" i="0" dirty="0" err="1">
                <a:solidFill>
                  <a:srgbClr val="1A1A2E"/>
                </a:solidFill>
                <a:latin typeface="+mj-lt"/>
              </a:rPr>
              <a:t>자체를</a:t>
            </a:r>
            <a:r>
              <a:rPr sz="3000" b="1" i="0" dirty="0">
                <a:solidFill>
                  <a:srgbClr val="1A1A2E"/>
                </a:solidFill>
                <a:latin typeface="+mj-lt"/>
              </a:rPr>
              <a:t> </a:t>
            </a:r>
            <a:r>
              <a:rPr sz="3000" b="1" i="0" dirty="0" err="1">
                <a:solidFill>
                  <a:srgbClr val="1A1A2E"/>
                </a:solidFill>
                <a:latin typeface="+mj-lt"/>
              </a:rPr>
              <a:t>바꾼다</a:t>
            </a:r>
            <a:endParaRPr sz="3000" b="1" i="0" dirty="0">
              <a:solidFill>
                <a:srgbClr val="1A1A2E"/>
              </a:solidFill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2697480"/>
            <a:ext cx="9445752" cy="1905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880360"/>
            <a:ext cx="3566160" cy="2134408"/>
          </a:xfrm>
          <a:prstGeom prst="rect">
            <a:avLst/>
          </a:prstGeom>
          <a:solidFill>
            <a:srgbClr val="F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3200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 dirty="0">
                <a:solidFill>
                  <a:srgbClr val="6A0DAD"/>
                </a:solidFill>
                <a:latin typeface="+mj-lt"/>
              </a:rPr>
              <a:t>뇌 </a:t>
            </a:r>
            <a:r>
              <a:rPr sz="1900" b="1" i="0" dirty="0" err="1">
                <a:solidFill>
                  <a:srgbClr val="6A0DAD"/>
                </a:solidFill>
                <a:latin typeface="+mj-lt"/>
              </a:rPr>
              <a:t>가소성</a:t>
            </a:r>
            <a:r>
              <a:rPr sz="1900" b="1" i="0" dirty="0">
                <a:solidFill>
                  <a:srgbClr val="6A0DAD"/>
                </a:solidFill>
                <a:latin typeface="+mj-lt"/>
              </a:rPr>
              <a:t>
(Neuroplasticity)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3200400" cy="1905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+mj-lt"/>
              </a:rPr>
              <a:t>반복 자극으로
뇌가 새 환경에 적응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880360"/>
            <a:ext cx="3566160" cy="2134408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3200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900" b="1" i="0" dirty="0">
                <a:solidFill>
                  <a:srgbClr val="1645A8"/>
                </a:solidFill>
                <a:latin typeface="+mj-lt"/>
              </a:rPr>
              <a:t>새 예측 모델을 의도적 학습</a:t>
            </a:r>
            <a:r>
              <a:rPr sz="1900" b="1" i="0" dirty="0">
                <a:solidFill>
                  <a:srgbClr val="1645A8"/>
                </a:solidFill>
                <a:latin typeface="+mj-lt"/>
              </a:rPr>
              <a:t>
(Pre-exposure)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3931920"/>
            <a:ext cx="3200399" cy="19050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6280" y="406908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+mj-lt"/>
              </a:rPr>
              <a:t>VR 진입 전
감각 예측 모델 재구성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880360"/>
            <a:ext cx="3566160" cy="2134408"/>
          </a:xfrm>
          <a:prstGeom prst="rect">
            <a:avLst/>
          </a:prstGeom>
          <a:solidFill>
            <a:srgbClr val="EE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3200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7A1A"/>
                </a:solidFill>
                <a:latin typeface="+mj-lt"/>
              </a:rPr>
              <a:t>단계적 동기화
(Progressive Sync)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3931920"/>
            <a:ext cx="3200400" cy="19050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0" y="406908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+mj-lt"/>
              </a:rPr>
              <a:t>감각 정보를
점진적으로 늘려간다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2F0599-2A7D-B8BB-371D-338E47C8991B}"/>
              </a:ext>
            </a:extLst>
          </p:cNvPr>
          <p:cNvSpPr txBox="1"/>
          <p:nvPr/>
        </p:nvSpPr>
        <p:spPr>
          <a:xfrm>
            <a:off x="443484" y="5943600"/>
            <a:ext cx="11274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 err="1">
                <a:solidFill>
                  <a:srgbClr val="666666"/>
                </a:solidFill>
                <a:latin typeface="+mj-lt"/>
              </a:rPr>
              <a:t>기존</a:t>
            </a:r>
            <a:r>
              <a:rPr sz="1400" b="0" i="1" dirty="0">
                <a:solidFill>
                  <a:srgbClr val="666666"/>
                </a:solidFill>
                <a:latin typeface="+mj-lt"/>
              </a:rPr>
              <a:t> </a:t>
            </a:r>
            <a:r>
              <a:rPr sz="1400" b="0" i="1" dirty="0" err="1">
                <a:solidFill>
                  <a:srgbClr val="666666"/>
                </a:solidFill>
                <a:latin typeface="+mj-lt"/>
              </a:rPr>
              <a:t>해결책</a:t>
            </a:r>
            <a:r>
              <a:rPr sz="1400" b="0" i="1" dirty="0">
                <a:solidFill>
                  <a:srgbClr val="666666"/>
                </a:solidFill>
                <a:latin typeface="+mj-lt"/>
              </a:rPr>
              <a:t>(</a:t>
            </a:r>
            <a:r>
              <a:rPr sz="1400" b="0" i="1" dirty="0" err="1">
                <a:solidFill>
                  <a:srgbClr val="666666"/>
                </a:solidFill>
                <a:latin typeface="+mj-lt"/>
              </a:rPr>
              <a:t>vignetting·rest</a:t>
            </a:r>
            <a:r>
              <a:rPr sz="1400" b="0" i="1" dirty="0">
                <a:solidFill>
                  <a:srgbClr val="666666"/>
                </a:solidFill>
                <a:latin typeface="+mj-lt"/>
              </a:rPr>
              <a:t> </a:t>
            </a:r>
            <a:r>
              <a:rPr sz="1400" b="0" i="1" dirty="0" err="1">
                <a:solidFill>
                  <a:srgbClr val="666666"/>
                </a:solidFill>
                <a:latin typeface="+mj-lt"/>
              </a:rPr>
              <a:t>frame·하드웨어</a:t>
            </a:r>
            <a:r>
              <a:rPr sz="1400" b="0" i="1" dirty="0">
                <a:solidFill>
                  <a:srgbClr val="666666"/>
                </a:solidFill>
                <a:latin typeface="+mj-lt"/>
              </a:rPr>
              <a:t>)은 '</a:t>
            </a:r>
            <a:r>
              <a:rPr sz="1400" b="0" i="1" dirty="0" err="1">
                <a:solidFill>
                  <a:srgbClr val="666666"/>
                </a:solidFill>
                <a:latin typeface="+mj-lt"/>
              </a:rPr>
              <a:t>몰입감'을</a:t>
            </a:r>
            <a:r>
              <a:rPr sz="1400" b="0" i="1" dirty="0">
                <a:solidFill>
                  <a:srgbClr val="666666"/>
                </a:solidFill>
                <a:latin typeface="+mj-lt"/>
              </a:rPr>
              <a:t> </a:t>
            </a:r>
            <a:r>
              <a:rPr sz="1400" b="0" i="1" dirty="0" err="1">
                <a:solidFill>
                  <a:srgbClr val="666666"/>
                </a:solidFill>
                <a:latin typeface="+mj-lt"/>
              </a:rPr>
              <a:t>희생하는</a:t>
            </a:r>
            <a:r>
              <a:rPr sz="1400" b="0" i="1" dirty="0">
                <a:solidFill>
                  <a:srgbClr val="666666"/>
                </a:solidFill>
                <a:latin typeface="+mj-lt"/>
              </a:rPr>
              <a:t> trade-</a:t>
            </a:r>
            <a:r>
              <a:rPr sz="1400" b="0" i="1" dirty="0" err="1">
                <a:solidFill>
                  <a:srgbClr val="666666"/>
                </a:solidFill>
                <a:latin typeface="+mj-lt"/>
              </a:rPr>
              <a:t>off가</a:t>
            </a:r>
            <a:r>
              <a:rPr sz="1400" b="0" i="1" dirty="0">
                <a:solidFill>
                  <a:srgbClr val="666666"/>
                </a:solidFill>
                <a:latin typeface="+mj-lt"/>
              </a:rPr>
              <a:t> </a:t>
            </a:r>
            <a:r>
              <a:rPr sz="1400" b="0" i="1" dirty="0" err="1">
                <a:solidFill>
                  <a:srgbClr val="666666"/>
                </a:solidFill>
                <a:latin typeface="+mj-lt"/>
              </a:rPr>
              <a:t>있다</a:t>
            </a:r>
            <a:endParaRPr sz="1400" b="0" i="1" dirty="0">
              <a:solidFill>
                <a:srgbClr val="666666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+mj-ea"/>
                <a:ea typeface="+mj-ea"/>
              </a:rPr>
              <a:t>3단계 점진적 시각 동기화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666666"/>
                </a:solidFill>
                <a:latin typeface="+mj-ea"/>
                <a:ea typeface="+mj-ea"/>
              </a:rPr>
              <a:t>VR </a:t>
            </a:r>
            <a:r>
              <a:rPr sz="1500" b="0" i="1" dirty="0" err="1">
                <a:solidFill>
                  <a:srgbClr val="666666"/>
                </a:solidFill>
                <a:latin typeface="+mj-ea"/>
                <a:ea typeface="+mj-ea"/>
              </a:rPr>
              <a:t>진입</a:t>
            </a:r>
            <a:r>
              <a:rPr sz="1500" b="0" i="1" dirty="0">
                <a:solidFill>
                  <a:srgbClr val="666666"/>
                </a:solidFill>
                <a:latin typeface="+mj-ea"/>
                <a:ea typeface="+mj-ea"/>
              </a:rPr>
              <a:t> → Phase 1 (</a:t>
            </a:r>
            <a:r>
              <a:rPr lang="en-US" sz="1500" i="1" dirty="0">
                <a:solidFill>
                  <a:srgbClr val="666666"/>
                </a:solidFill>
                <a:latin typeface="+mj-ea"/>
                <a:ea typeface="+mj-ea"/>
              </a:rPr>
              <a:t>12</a:t>
            </a:r>
            <a:r>
              <a:rPr lang="en-US" sz="1500" b="0" i="1" dirty="0">
                <a:solidFill>
                  <a:srgbClr val="666666"/>
                </a:solidFill>
                <a:latin typeface="+mj-ea"/>
                <a:ea typeface="+mj-ea"/>
              </a:rPr>
              <a:t>0</a:t>
            </a:r>
            <a:r>
              <a:rPr sz="1500" b="0" i="1" dirty="0">
                <a:solidFill>
                  <a:srgbClr val="666666"/>
                </a:solidFill>
                <a:latin typeface="+mj-ea"/>
                <a:ea typeface="+mj-ea"/>
              </a:rPr>
              <a:t>s) → Phase 2 (</a:t>
            </a:r>
            <a:r>
              <a:rPr lang="en-US" sz="1500" i="1" dirty="0">
                <a:solidFill>
                  <a:srgbClr val="666666"/>
                </a:solidFill>
                <a:latin typeface="+mj-ea"/>
                <a:ea typeface="+mj-ea"/>
              </a:rPr>
              <a:t>12</a:t>
            </a:r>
            <a:r>
              <a:rPr sz="1500" b="0" i="1" dirty="0">
                <a:solidFill>
                  <a:srgbClr val="666666"/>
                </a:solidFill>
                <a:latin typeface="+mj-ea"/>
                <a:ea typeface="+mj-ea"/>
              </a:rPr>
              <a:t>0s) → Phase 3 (</a:t>
            </a:r>
            <a:r>
              <a:rPr lang="en-US" sz="1500" i="1" dirty="0">
                <a:solidFill>
                  <a:srgbClr val="666666"/>
                </a:solidFill>
                <a:latin typeface="+mj-ea"/>
                <a:ea typeface="+mj-ea"/>
              </a:rPr>
              <a:t>6</a:t>
            </a:r>
            <a:r>
              <a:rPr sz="1500" b="0" i="1" dirty="0">
                <a:solidFill>
                  <a:srgbClr val="666666"/>
                </a:solidFill>
                <a:latin typeface="+mj-ea"/>
                <a:ea typeface="+mj-ea"/>
              </a:rPr>
              <a:t>0s) → 본 </a:t>
            </a:r>
            <a:r>
              <a:rPr sz="1500" b="0" i="1" dirty="0" err="1">
                <a:solidFill>
                  <a:srgbClr val="666666"/>
                </a:solidFill>
                <a:latin typeface="+mj-ea"/>
                <a:ea typeface="+mj-ea"/>
              </a:rPr>
              <a:t>콘텐츠</a:t>
            </a:r>
            <a:endParaRPr sz="1500" b="0" i="1" dirty="0">
              <a:solidFill>
                <a:srgbClr val="666666"/>
              </a:solidFill>
              <a:latin typeface="+mj-ea"/>
              <a:ea typeface="+mj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5120640"/>
          </a:xfrm>
          <a:prstGeom prst="rect">
            <a:avLst/>
          </a:prstGeom>
          <a:solidFill>
            <a:srgbClr val="F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792" y="1417320"/>
            <a:ext cx="1097280" cy="3657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+mj-ea"/>
                <a:ea typeface="+mj-ea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01952"/>
            <a:ext cx="3236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A0DAD"/>
                </a:solidFill>
                <a:latin typeface="+mj-ea"/>
                <a:ea typeface="+mj-ea"/>
              </a:rPr>
              <a:t>완전한 어둠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78608"/>
            <a:ext cx="32369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+mj-ea"/>
                <a:ea typeface="+mj-ea"/>
              </a:rPr>
              <a:t>소리 + 진동으로
공간을 상상하게 한다</a:t>
            </a:r>
          </a:p>
        </p:txBody>
      </p:sp>
      <p:pic>
        <p:nvPicPr>
          <p:cNvPr id="9" name="Picture 8" descr="스크린샷 2026-05-18 1124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29000"/>
            <a:ext cx="3383280" cy="26060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343400" y="1280160"/>
            <a:ext cx="3566160" cy="51206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07992" y="1417320"/>
            <a:ext cx="1097280" cy="365760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+mj-ea"/>
                <a:ea typeface="+mj-ea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901952"/>
            <a:ext cx="3236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45A8"/>
                </a:solidFill>
                <a:latin typeface="+mj-ea"/>
                <a:ea typeface="+mj-ea"/>
              </a:rPr>
              <a:t>윤곽선만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578608"/>
            <a:ext cx="32369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+mj-ea"/>
                <a:ea typeface="+mj-ea"/>
              </a:rPr>
              <a:t>상상한 공간과
시각 정보를 연결한다</a:t>
            </a:r>
          </a:p>
        </p:txBody>
      </p:sp>
      <p:pic>
        <p:nvPicPr>
          <p:cNvPr id="14" name="Picture 13" descr="비교군1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429000"/>
            <a:ext cx="3383280" cy="26060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229600" y="1280160"/>
            <a:ext cx="3566160" cy="5120640"/>
          </a:xfrm>
          <a:prstGeom prst="rect">
            <a:avLst/>
          </a:prstGeom>
          <a:solidFill>
            <a:srgbClr val="EE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94192" y="1417320"/>
            <a:ext cx="1097280" cy="365760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+mj-ea"/>
                <a:ea typeface="+mj-ea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01952"/>
            <a:ext cx="3236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7A1A"/>
                </a:solidFill>
                <a:latin typeface="+mj-ea"/>
                <a:ea typeface="+mj-ea"/>
              </a:rPr>
              <a:t>점점 선명하게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578608"/>
            <a:ext cx="32369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+mj-ea"/>
                <a:ea typeface="+mj-ea"/>
              </a:rPr>
              <a:t>새 예측 모델 위에
완전한 VR을 입힌다</a:t>
            </a:r>
          </a:p>
        </p:txBody>
      </p:sp>
      <p:pic>
        <p:nvPicPr>
          <p:cNvPr id="19" name="Picture 18" descr="비교군2p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429000"/>
            <a:ext cx="33832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1A1A2E"/>
                </a:solidFill>
              </a:rPr>
              <a:t>Phase 1 —</a:t>
            </a:r>
            <a:r>
              <a:rPr sz="3000" b="1" i="0" dirty="0" err="1">
                <a:solidFill>
                  <a:srgbClr val="1A1A2E"/>
                </a:solidFill>
              </a:rPr>
              <a:t>어둠</a:t>
            </a:r>
            <a:r>
              <a:rPr lang="en-US" sz="3000" b="1" dirty="0">
                <a:solidFill>
                  <a:srgbClr val="1A1A2E"/>
                </a:solidFill>
              </a:rPr>
              <a:t> </a:t>
            </a:r>
            <a:r>
              <a:rPr lang="ko-KR" altLang="en-US" sz="3000" b="1" dirty="0">
                <a:solidFill>
                  <a:srgbClr val="1A1A2E"/>
                </a:solidFill>
              </a:rPr>
              <a:t>속에서 공간을 인지시키기</a:t>
            </a:r>
            <a:endParaRPr sz="3000" b="1" i="0" dirty="0">
              <a:solidFill>
                <a:srgbClr val="1A1A2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i="1" dirty="0">
                <a:solidFill>
                  <a:srgbClr val="666666"/>
                </a:solidFill>
              </a:rPr>
              <a:t>60</a:t>
            </a:r>
            <a:r>
              <a:rPr sz="1500" b="0" i="1" dirty="0">
                <a:solidFill>
                  <a:srgbClr val="666666"/>
                </a:solidFill>
              </a:rPr>
              <a:t>초 | </a:t>
            </a:r>
            <a:r>
              <a:rPr sz="1500" b="0" i="1" dirty="0" err="1">
                <a:solidFill>
                  <a:srgbClr val="666666"/>
                </a:solidFill>
              </a:rPr>
              <a:t>시각</a:t>
            </a:r>
            <a:r>
              <a:rPr sz="1500" b="0" i="1" dirty="0">
                <a:solidFill>
                  <a:srgbClr val="666666"/>
                </a:solidFill>
              </a:rPr>
              <a:t> 100% </a:t>
            </a:r>
            <a:r>
              <a:rPr sz="1500" b="0" i="1" dirty="0" err="1">
                <a:solidFill>
                  <a:srgbClr val="666666"/>
                </a:solidFill>
              </a:rPr>
              <a:t>차단</a:t>
            </a:r>
            <a:endParaRPr sz="1500" b="0" i="1" dirty="0">
              <a:solidFill>
                <a:srgbClr val="666666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38404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핵심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1A1A2E"/>
                </a:solidFill>
              </a:rPr>
              <a:t>어둠</a:t>
            </a:r>
            <a:r>
              <a:rPr sz="2600" b="1" i="0" dirty="0">
                <a:solidFill>
                  <a:srgbClr val="1A1A2E"/>
                </a:solidFill>
              </a:rPr>
              <a:t> </a:t>
            </a:r>
            <a:r>
              <a:rPr sz="2600" b="1" i="0" dirty="0" err="1">
                <a:solidFill>
                  <a:srgbClr val="1A1A2E"/>
                </a:solidFill>
              </a:rPr>
              <a:t>속에서도</a:t>
            </a:r>
            <a:r>
              <a:rPr sz="2600" b="1" i="0" dirty="0">
                <a:solidFill>
                  <a:srgbClr val="1A1A2E"/>
                </a:solidFill>
              </a:rPr>
              <a:t>
</a:t>
            </a:r>
            <a:r>
              <a:rPr sz="2600" b="1" i="0" dirty="0" err="1">
                <a:solidFill>
                  <a:srgbClr val="1A1A2E"/>
                </a:solidFill>
              </a:rPr>
              <a:t>공간을</a:t>
            </a:r>
            <a:r>
              <a:rPr sz="2600" b="1" i="0" dirty="0">
                <a:solidFill>
                  <a:srgbClr val="1A1A2E"/>
                </a:solidFill>
              </a:rPr>
              <a:t> </a:t>
            </a:r>
            <a:r>
              <a:rPr lang="ko-KR" altLang="en-US" sz="2600" b="1" i="0" dirty="0">
                <a:solidFill>
                  <a:srgbClr val="1A1A2E"/>
                </a:solidFill>
              </a:rPr>
              <a:t>느끼게 하기</a:t>
            </a:r>
            <a:endParaRPr sz="2600" b="1" i="0" dirty="0">
              <a:solidFill>
                <a:srgbClr val="1A1A2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5486400" cy="1905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6A0DAD"/>
                </a:solidFill>
              </a:rPr>
              <a:t>   </a:t>
            </a:r>
            <a:r>
              <a:rPr sz="2000" b="1" dirty="0" err="1">
                <a:solidFill>
                  <a:srgbClr val="6A0DAD"/>
                </a:solidFill>
              </a:rPr>
              <a:t>소리</a:t>
            </a:r>
            <a:endParaRPr sz="2000" b="1" dirty="0">
              <a:solidFill>
                <a:srgbClr val="6A0DAD"/>
              </a:solidFill>
            </a:endParaRPr>
          </a:p>
          <a:p>
            <a:pPr algn="l"/>
            <a:r>
              <a:rPr sz="1600" b="0" dirty="0">
                <a:solidFill>
                  <a:srgbClr val="666666"/>
                </a:solidFill>
              </a:rPr>
              <a:t>   </a:t>
            </a:r>
            <a:r>
              <a:rPr lang="ko-KR" altLang="en-US" sz="1600" dirty="0">
                <a:solidFill>
                  <a:srgbClr val="666666"/>
                </a:solidFill>
              </a:rPr>
              <a:t>공간 음향을 통해</a:t>
            </a:r>
            <a:r>
              <a:rPr sz="1600" b="0" dirty="0">
                <a:solidFill>
                  <a:srgbClr val="666666"/>
                </a:solidFill>
              </a:rPr>
              <a:t> </a:t>
            </a:r>
            <a:r>
              <a:rPr sz="1600" b="0" dirty="0" err="1">
                <a:solidFill>
                  <a:srgbClr val="666666"/>
                </a:solidFill>
              </a:rPr>
              <a:t>공간감</a:t>
            </a:r>
            <a:r>
              <a:rPr sz="1600" b="0" dirty="0">
                <a:solidFill>
                  <a:srgbClr val="666666"/>
                </a:solidFill>
              </a:rPr>
              <a:t> </a:t>
            </a:r>
            <a:r>
              <a:rPr sz="1600" b="0" dirty="0" err="1">
                <a:solidFill>
                  <a:srgbClr val="666666"/>
                </a:solidFill>
              </a:rPr>
              <a:t>제공</a:t>
            </a:r>
            <a:endParaRPr sz="1600" b="0" dirty="0">
              <a:solidFill>
                <a:srgbClr val="666666"/>
              </a:solidFill>
            </a:endParaRPr>
          </a:p>
          <a:p>
            <a:pPr algn="l"/>
            <a:endParaRPr sz="1600" b="0" dirty="0">
              <a:solidFill>
                <a:srgbClr val="666666"/>
              </a:solidFill>
            </a:endParaRPr>
          </a:p>
          <a:p>
            <a:pPr algn="l"/>
            <a:r>
              <a:rPr sz="2000" b="1" dirty="0">
                <a:solidFill>
                  <a:srgbClr val="6A0DAD"/>
                </a:solidFill>
              </a:rPr>
              <a:t>   </a:t>
            </a:r>
            <a:r>
              <a:rPr sz="2000" b="1" dirty="0" err="1">
                <a:solidFill>
                  <a:srgbClr val="6A0DAD"/>
                </a:solidFill>
              </a:rPr>
              <a:t>진동</a:t>
            </a:r>
            <a:endParaRPr sz="2000" b="1" dirty="0">
              <a:solidFill>
                <a:srgbClr val="6A0DAD"/>
              </a:solidFill>
            </a:endParaRPr>
          </a:p>
          <a:p>
            <a:pPr algn="l"/>
            <a:r>
              <a:rPr sz="1600" b="0" dirty="0">
                <a:solidFill>
                  <a:srgbClr val="666666"/>
                </a:solidFill>
              </a:rPr>
              <a:t>   </a:t>
            </a:r>
            <a:r>
              <a:rPr sz="1600" b="0" dirty="0" err="1">
                <a:solidFill>
                  <a:srgbClr val="666666"/>
                </a:solidFill>
              </a:rPr>
              <a:t>컨트롤러</a:t>
            </a:r>
            <a:r>
              <a:rPr sz="1600" b="0" dirty="0">
                <a:solidFill>
                  <a:srgbClr val="666666"/>
                </a:solidFill>
              </a:rPr>
              <a:t> </a:t>
            </a:r>
            <a:r>
              <a:rPr sz="1600" b="0" dirty="0" err="1">
                <a:solidFill>
                  <a:srgbClr val="666666"/>
                </a:solidFill>
              </a:rPr>
              <a:t>햅틱</a:t>
            </a:r>
            <a:r>
              <a:rPr lang="ko-KR" altLang="en-US" sz="1600" b="0" dirty="0">
                <a:solidFill>
                  <a:srgbClr val="666666"/>
                </a:solidFill>
              </a:rPr>
              <a:t>을 통한 공간 인식</a:t>
            </a:r>
            <a:br>
              <a:rPr lang="en-US" altLang="ko-KR" sz="1600" b="0" dirty="0">
                <a:solidFill>
                  <a:srgbClr val="666666"/>
                </a:solidFill>
              </a:rPr>
            </a:br>
            <a:r>
              <a:rPr lang="en-US" altLang="ko-KR" sz="1600" b="0" dirty="0">
                <a:solidFill>
                  <a:srgbClr val="666666"/>
                </a:solidFill>
              </a:rPr>
              <a:t>-&gt; </a:t>
            </a:r>
            <a:r>
              <a:rPr lang="ko-KR" altLang="en-US" sz="1600" b="0" dirty="0">
                <a:solidFill>
                  <a:srgbClr val="666666"/>
                </a:solidFill>
              </a:rPr>
              <a:t>벽</a:t>
            </a:r>
            <a:r>
              <a:rPr lang="en-US" altLang="ko-KR" sz="1600" b="0" dirty="0">
                <a:solidFill>
                  <a:srgbClr val="666666"/>
                </a:solidFill>
              </a:rPr>
              <a:t>, </a:t>
            </a:r>
            <a:r>
              <a:rPr lang="ko-KR" altLang="en-US" sz="1600" b="0" dirty="0">
                <a:solidFill>
                  <a:srgbClr val="666666"/>
                </a:solidFill>
              </a:rPr>
              <a:t>물체에 닿으면 강한 진동으로 </a:t>
            </a:r>
            <a:r>
              <a:rPr lang="ko-KR" altLang="en-US" sz="1600" b="0" dirty="0" err="1">
                <a:solidFill>
                  <a:srgbClr val="666666"/>
                </a:solidFill>
              </a:rPr>
              <a:t>막혀있는</a:t>
            </a:r>
            <a:r>
              <a:rPr lang="ko-KR" altLang="en-US" sz="1600" b="0" dirty="0">
                <a:solidFill>
                  <a:srgbClr val="666666"/>
                </a:solidFill>
              </a:rPr>
              <a:t> 공간임을 인지</a:t>
            </a:r>
            <a:br>
              <a:rPr lang="en-US" altLang="ko-KR" sz="1600" b="0" dirty="0">
                <a:solidFill>
                  <a:srgbClr val="666666"/>
                </a:solidFill>
              </a:rPr>
            </a:br>
            <a:endParaRPr sz="1600" b="0" dirty="0">
              <a:solidFill>
                <a:srgbClr val="666666"/>
              </a:solidFill>
            </a:endParaRPr>
          </a:p>
          <a:p>
            <a:pPr algn="l"/>
            <a:r>
              <a:rPr sz="2000" b="1" dirty="0">
                <a:solidFill>
                  <a:srgbClr val="6A0DAD"/>
                </a:solidFill>
              </a:rPr>
              <a:t>   </a:t>
            </a:r>
            <a:r>
              <a:rPr sz="2000" b="1" dirty="0" err="1">
                <a:solidFill>
                  <a:srgbClr val="6A0DAD"/>
                </a:solidFill>
              </a:rPr>
              <a:t>상상</a:t>
            </a:r>
            <a:endParaRPr sz="2000" b="1" dirty="0">
              <a:solidFill>
                <a:srgbClr val="6A0DAD"/>
              </a:solidFill>
            </a:endParaRPr>
          </a:p>
          <a:p>
            <a:pPr algn="l"/>
            <a:r>
              <a:rPr sz="1600" b="0" dirty="0">
                <a:solidFill>
                  <a:srgbClr val="666666"/>
                </a:solidFill>
              </a:rPr>
              <a:t>   </a:t>
            </a:r>
            <a:r>
              <a:rPr sz="1600" b="0" dirty="0" err="1">
                <a:solidFill>
                  <a:srgbClr val="666666"/>
                </a:solidFill>
              </a:rPr>
              <a:t>피실험자가</a:t>
            </a:r>
            <a:r>
              <a:rPr sz="1600" b="0" dirty="0">
                <a:solidFill>
                  <a:srgbClr val="666666"/>
                </a:solidFill>
              </a:rPr>
              <a:t> </a:t>
            </a:r>
            <a:r>
              <a:rPr sz="1600" b="0" dirty="0" err="1">
                <a:solidFill>
                  <a:srgbClr val="666666"/>
                </a:solidFill>
              </a:rPr>
              <a:t>스스로</a:t>
            </a:r>
            <a:r>
              <a:rPr sz="1600" b="0" dirty="0">
                <a:solidFill>
                  <a:srgbClr val="666666"/>
                </a:solidFill>
              </a:rPr>
              <a:t> </a:t>
            </a:r>
            <a:r>
              <a:rPr sz="1600" b="0" dirty="0" err="1">
                <a:solidFill>
                  <a:srgbClr val="666666"/>
                </a:solidFill>
              </a:rPr>
              <a:t>공간</a:t>
            </a:r>
            <a:r>
              <a:rPr sz="1600" b="0" dirty="0">
                <a:solidFill>
                  <a:srgbClr val="666666"/>
                </a:solidFill>
              </a:rPr>
              <a:t> </a:t>
            </a:r>
            <a:r>
              <a:rPr sz="1600" b="0" dirty="0" err="1">
                <a:solidFill>
                  <a:srgbClr val="666666"/>
                </a:solidFill>
              </a:rPr>
              <a:t>구조를</a:t>
            </a:r>
            <a:r>
              <a:rPr sz="1600" b="0" dirty="0">
                <a:solidFill>
                  <a:srgbClr val="666666"/>
                </a:solidFill>
              </a:rPr>
              <a:t> </a:t>
            </a:r>
            <a:r>
              <a:rPr sz="1600" b="0" dirty="0" err="1">
                <a:solidFill>
                  <a:srgbClr val="666666"/>
                </a:solidFill>
              </a:rPr>
              <a:t>추론</a:t>
            </a:r>
            <a:r>
              <a:rPr lang="ko-KR" altLang="en-US" sz="1600" b="0" dirty="0">
                <a:solidFill>
                  <a:srgbClr val="666666"/>
                </a:solidFill>
              </a:rPr>
              <a:t>하도록 하기</a:t>
            </a:r>
            <a:endParaRPr sz="1600" b="0" dirty="0">
              <a:solidFill>
                <a:srgbClr val="666666"/>
              </a:solidFill>
            </a:endParaRPr>
          </a:p>
        </p:txBody>
      </p:sp>
      <p:pic>
        <p:nvPicPr>
          <p:cNvPr id="9" name="Picture 8" descr="스크린샷 2026-05-18 1124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61872"/>
            <a:ext cx="5577840" cy="3011826"/>
          </a:xfrm>
          <a:prstGeom prst="rect">
            <a:avLst/>
          </a:prstGeom>
        </p:spPr>
      </p:pic>
      <p:pic>
        <p:nvPicPr>
          <p:cNvPr id="10" name="Picture 9" descr="스크린샷 2026-05-18 1125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069080"/>
            <a:ext cx="5577840" cy="24688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AF708B-3452-99E4-9983-CE0480089541}"/>
              </a:ext>
            </a:extLst>
          </p:cNvPr>
          <p:cNvSpPr txBox="1"/>
          <p:nvPr/>
        </p:nvSpPr>
        <p:spPr>
          <a:xfrm>
            <a:off x="725055" y="57739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6A0DAD"/>
                </a:solidFill>
              </a:rPr>
              <a:t>+ .. </a:t>
            </a:r>
            <a:r>
              <a:rPr lang="ko-KR" altLang="en-US" sz="1800" b="1" dirty="0">
                <a:solidFill>
                  <a:srgbClr val="6A0DAD"/>
                </a:solidFill>
              </a:rPr>
              <a:t>시각</a:t>
            </a:r>
            <a:br>
              <a:rPr lang="en-US" altLang="ko-KR" sz="1800" b="1" dirty="0">
                <a:solidFill>
                  <a:srgbClr val="6A0DAD"/>
                </a:solidFill>
              </a:rPr>
            </a:br>
            <a:r>
              <a:rPr lang="ko-KR" altLang="en-US" sz="1800" b="1" dirty="0">
                <a:solidFill>
                  <a:srgbClr val="666666"/>
                </a:solidFill>
              </a:rPr>
              <a:t>아주 흐릿한 형태 및 아주 짧은 시간의 시각 정보 제공</a:t>
            </a:r>
            <a:endParaRPr lang="en-US" altLang="ko-KR" sz="1800" b="1" dirty="0">
              <a:solidFill>
                <a:srgbClr val="6A0DA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맑은 고딕"/>
              </a:rPr>
              <a:t>Phase 2 — 윤곽선만 보여준다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맑은 고딕"/>
              </a:rPr>
              <a:t>30초 | fidelity = 0.3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384048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핵심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1A1A2E"/>
                </a:solidFill>
                <a:latin typeface="맑은 고딕"/>
              </a:rPr>
              <a:t>상상했던</a:t>
            </a:r>
            <a:r>
              <a:rPr sz="26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1A1A2E"/>
                </a:solidFill>
                <a:latin typeface="맑은 고딕"/>
              </a:rPr>
              <a:t>공간</a:t>
            </a:r>
            <a:r>
              <a:rPr lang="ko-KR" altLang="en-US" sz="2600" b="1" i="0" dirty="0">
                <a:solidFill>
                  <a:srgbClr val="1A1A2E"/>
                </a:solidFill>
                <a:latin typeface="맑은 고딕"/>
              </a:rPr>
              <a:t>과</a:t>
            </a:r>
            <a:br>
              <a:rPr lang="en-US" altLang="ko-KR" sz="2600" b="1" i="0" dirty="0">
                <a:solidFill>
                  <a:srgbClr val="1A1A2E"/>
                </a:solidFill>
                <a:latin typeface="맑은 고딕"/>
              </a:rPr>
            </a:br>
            <a:r>
              <a:rPr lang="ko-KR" altLang="en-US" sz="2600" b="1" i="0" dirty="0">
                <a:solidFill>
                  <a:srgbClr val="1A1A2E"/>
                </a:solidFill>
                <a:latin typeface="맑은 고딕"/>
              </a:rPr>
              <a:t>새롭게 제공되는 </a:t>
            </a:r>
            <a:r>
              <a:rPr lang="en-US" altLang="ko-KR" sz="2600" b="1" i="0" dirty="0">
                <a:solidFill>
                  <a:srgbClr val="1A1A2E"/>
                </a:solidFill>
                <a:latin typeface="맑은 고딕"/>
              </a:rPr>
              <a:t>VR </a:t>
            </a:r>
            <a:r>
              <a:rPr lang="ko-KR" altLang="en-US" sz="2600" b="1" i="0" dirty="0">
                <a:solidFill>
                  <a:srgbClr val="1A1A2E"/>
                </a:solidFill>
                <a:latin typeface="맑은 고딕"/>
              </a:rPr>
              <a:t>환경</a:t>
            </a:r>
            <a:r>
              <a:rPr sz="2600" b="1" i="0" dirty="0">
                <a:solidFill>
                  <a:srgbClr val="1A1A2E"/>
                </a:solidFill>
                <a:latin typeface="맑은 고딕"/>
              </a:rPr>
              <a:t>
</a:t>
            </a:r>
            <a:r>
              <a:rPr sz="2600" b="1" i="0" dirty="0" err="1">
                <a:solidFill>
                  <a:srgbClr val="1A1A2E"/>
                </a:solidFill>
                <a:latin typeface="맑은 고딕"/>
              </a:rPr>
              <a:t>지금</a:t>
            </a:r>
            <a:r>
              <a:rPr sz="26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1A1A2E"/>
                </a:solidFill>
                <a:latin typeface="맑은 고딕"/>
              </a:rPr>
              <a:t>보이는</a:t>
            </a:r>
            <a:r>
              <a:rPr sz="26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1A1A2E"/>
                </a:solidFill>
                <a:latin typeface="맑은 고딕"/>
              </a:rPr>
              <a:t>윤곽선이</a:t>
            </a:r>
            <a:r>
              <a:rPr sz="26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1A1A2E"/>
                </a:solidFill>
                <a:latin typeface="맑은 고딕"/>
              </a:rPr>
              <a:t>맞는가</a:t>
            </a:r>
            <a:r>
              <a:rPr sz="2600" b="1" i="0" dirty="0">
                <a:solidFill>
                  <a:srgbClr val="1A1A2E"/>
                </a:solidFill>
                <a:latin typeface="맑은 고딕"/>
              </a:rPr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5486400" cy="19050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45A8"/>
                </a:solidFill>
                <a:latin typeface="맑은 고딕"/>
              </a:rPr>
              <a:t>   최소 시각</a:t>
            </a:r>
          </a:p>
          <a:p>
            <a:pPr algn="l"/>
            <a:r>
              <a:rPr sz="1600" b="0">
                <a:solidFill>
                  <a:srgbClr val="666666"/>
                </a:solidFill>
                <a:latin typeface="맑은 고딕"/>
              </a:rPr>
              <a:t>   엣지·윤곽선만 표시 (표면은 검정)</a:t>
            </a:r>
          </a:p>
          <a:p>
            <a:pPr algn="l"/>
            <a:endParaRPr sz="1600" b="0">
              <a:solidFill>
                <a:srgbClr val="666666"/>
              </a:solidFill>
              <a:latin typeface="맑은 고딕"/>
            </a:endParaRPr>
          </a:p>
          <a:p>
            <a:pPr algn="l"/>
            <a:r>
              <a:rPr sz="2000" b="1">
                <a:solidFill>
                  <a:srgbClr val="1645A8"/>
                </a:solidFill>
                <a:latin typeface="맑은 고딕"/>
              </a:rPr>
              <a:t>   매칭</a:t>
            </a:r>
          </a:p>
          <a:p>
            <a:pPr algn="l"/>
            <a:r>
              <a:rPr sz="1600" b="0">
                <a:solidFill>
                  <a:srgbClr val="666666"/>
                </a:solidFill>
                <a:latin typeface="맑은 고딕"/>
              </a:rPr>
              <a:t>   Phase 1 공간 인식 + 시각 정보 연결</a:t>
            </a:r>
          </a:p>
          <a:p>
            <a:pPr algn="l"/>
            <a:endParaRPr sz="1600" b="0">
              <a:solidFill>
                <a:srgbClr val="666666"/>
              </a:solidFill>
              <a:latin typeface="맑은 고딕"/>
            </a:endParaRPr>
          </a:p>
          <a:p>
            <a:pPr algn="l"/>
            <a:r>
              <a:rPr sz="2000" b="1">
                <a:solidFill>
                  <a:srgbClr val="1645A8"/>
                </a:solidFill>
                <a:latin typeface="맑은 고딕"/>
              </a:rPr>
              <a:t>   전환</a:t>
            </a:r>
          </a:p>
          <a:p>
            <a:pPr algn="l"/>
            <a:r>
              <a:rPr sz="1600" b="0">
                <a:solidFill>
                  <a:srgbClr val="666666"/>
                </a:solidFill>
                <a:latin typeface="맑은 고딕"/>
              </a:rPr>
              <a:t>   현실 예측치 → 가상 공간 예측치 형성</a:t>
            </a:r>
          </a:p>
        </p:txBody>
      </p:sp>
      <p:pic>
        <p:nvPicPr>
          <p:cNvPr id="9" name="Picture 8" descr="비교군1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694938"/>
            <a:ext cx="5577840" cy="3012241"/>
          </a:xfrm>
          <a:prstGeom prst="rect">
            <a:avLst/>
          </a:prstGeom>
        </p:spPr>
      </p:pic>
      <p:pic>
        <p:nvPicPr>
          <p:cNvPr id="10" name="Picture 9" descr="비교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682697"/>
            <a:ext cx="5577840" cy="30122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맑은 고딕"/>
              </a:rPr>
              <a:t>Phase 3 — 점점 선명해진다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맑은 고딕"/>
              </a:rPr>
              <a:t>30초 | fidelity 0.3 → 1.0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384048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맑은 고딕"/>
              </a:rPr>
              <a:t>뇌가 이미 가상 공간에
익숙해진 상태에서 VR이 시작된다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5486400" cy="19050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7A1A"/>
                </a:solidFill>
                <a:latin typeface="맑은 고딕"/>
              </a:rPr>
              <a:t>   fidelity 0.3 → 1.0</a:t>
            </a:r>
          </a:p>
          <a:p>
            <a:pPr algn="l"/>
            <a:r>
              <a:rPr sz="1600" b="0">
                <a:solidFill>
                  <a:srgbClr val="666666"/>
                </a:solidFill>
                <a:latin typeface="맑은 고딕"/>
              </a:rPr>
              <a:t>   텍스처·광원·색상 30초에 걸쳐 점진 복원</a:t>
            </a:r>
          </a:p>
          <a:p>
            <a:pPr algn="l"/>
            <a:endParaRPr sz="1600" b="0">
              <a:solidFill>
                <a:srgbClr val="666666"/>
              </a:solidFill>
              <a:latin typeface="맑은 고딕"/>
            </a:endParaRPr>
          </a:p>
          <a:p>
            <a:pPr algn="l"/>
            <a:r>
              <a:rPr sz="2000" b="1">
                <a:solidFill>
                  <a:srgbClr val="1A7A1A"/>
                </a:solidFill>
                <a:latin typeface="맑은 고딕"/>
              </a:rPr>
              <a:t>   완전한 VR</a:t>
            </a:r>
          </a:p>
          <a:p>
            <a:pPr algn="l"/>
            <a:r>
              <a:rPr sz="1600" b="0">
                <a:solidFill>
                  <a:srgbClr val="666666"/>
                </a:solidFill>
                <a:latin typeface="맑은 고딕"/>
              </a:rPr>
              <a:t>   이미 형성된 예측 모델 위에 현실감을 입힘</a:t>
            </a:r>
          </a:p>
          <a:p>
            <a:pPr algn="l"/>
            <a:endParaRPr sz="1600" b="0">
              <a:solidFill>
                <a:srgbClr val="666666"/>
              </a:solidFill>
              <a:latin typeface="맑은 고딕"/>
            </a:endParaRPr>
          </a:p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   → AimTrainer 시작</a:t>
            </a:r>
          </a:p>
        </p:txBody>
      </p:sp>
      <p:pic>
        <p:nvPicPr>
          <p:cNvPr id="9" name="Picture 8" descr="비교군2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61872"/>
            <a:ext cx="5577840" cy="29958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지금까지 만든 것들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</a:rPr>
              <a:t>핵심 기능 구현 완료 — 실험 환경 구축 직전 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50330"/>
            <a:ext cx="1005840" cy="329184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7340" y="1453340"/>
            <a:ext cx="2743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1A1A2E"/>
                </a:solidFill>
              </a:rPr>
              <a:t>3단계 </a:t>
            </a:r>
            <a:r>
              <a:rPr sz="1500" b="1" i="0" dirty="0" err="1">
                <a:solidFill>
                  <a:srgbClr val="1A1A2E"/>
                </a:solidFill>
              </a:rPr>
              <a:t>적응</a:t>
            </a:r>
            <a:r>
              <a:rPr sz="1500" b="1" i="0" dirty="0">
                <a:solidFill>
                  <a:srgbClr val="1A1A2E"/>
                </a:solidFill>
              </a:rPr>
              <a:t> </a:t>
            </a:r>
            <a:r>
              <a:rPr sz="1500" b="1" i="0" dirty="0" err="1">
                <a:solidFill>
                  <a:srgbClr val="1A1A2E"/>
                </a:solidFill>
              </a:rPr>
              <a:t>시퀀스</a:t>
            </a:r>
            <a:r>
              <a:rPr lang="ko-KR" altLang="en-US" sz="1500" b="1" dirty="0">
                <a:solidFill>
                  <a:srgbClr val="1A1A2E"/>
                </a:solidFill>
              </a:rPr>
              <a:t>를 위한</a:t>
            </a:r>
            <a:br>
              <a:rPr lang="en-US" altLang="ko-KR" sz="1500" b="1" dirty="0">
                <a:solidFill>
                  <a:srgbClr val="1A1A2E"/>
                </a:solidFill>
              </a:rPr>
            </a:br>
            <a:r>
              <a:rPr lang="ko-KR" altLang="en-US" sz="1500" b="1" dirty="0">
                <a:solidFill>
                  <a:srgbClr val="1A1A2E"/>
                </a:solidFill>
              </a:rPr>
              <a:t>렌더링 파이프라인 구축</a:t>
            </a:r>
            <a:endParaRPr sz="1500" b="1" i="0" dirty="0">
              <a:solidFill>
                <a:srgbClr val="1A1A2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34840" y="1353312"/>
            <a:ext cx="3657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66666"/>
                </a:solidFill>
              </a:rPr>
              <a:t>Phase 1 </a:t>
            </a:r>
            <a:r>
              <a:rPr sz="1400" b="0" i="0" dirty="0" err="1">
                <a:solidFill>
                  <a:srgbClr val="666666"/>
                </a:solidFill>
              </a:rPr>
              <a:t>암흑</a:t>
            </a:r>
            <a:r>
              <a:rPr sz="1400" b="0" i="0" dirty="0">
                <a:solidFill>
                  <a:srgbClr val="666666"/>
                </a:solidFill>
              </a:rPr>
              <a:t>  </a:t>
            </a:r>
            <a:br>
              <a:rPr lang="en-US" sz="1400" b="0" i="0" dirty="0">
                <a:solidFill>
                  <a:srgbClr val="666666"/>
                </a:solidFill>
              </a:rPr>
            </a:br>
            <a:r>
              <a:rPr sz="1400" b="0" i="0" dirty="0">
                <a:solidFill>
                  <a:srgbClr val="666666"/>
                </a:solidFill>
              </a:rPr>
              <a:t>Phase 2 </a:t>
            </a:r>
            <a:r>
              <a:rPr sz="1400" b="0" i="0" dirty="0" err="1">
                <a:solidFill>
                  <a:srgbClr val="666666"/>
                </a:solidFill>
              </a:rPr>
              <a:t>엣지</a:t>
            </a:r>
            <a:r>
              <a:rPr sz="1400" b="0" i="0" dirty="0">
                <a:solidFill>
                  <a:srgbClr val="666666"/>
                </a:solidFill>
              </a:rPr>
              <a:t> </a:t>
            </a:r>
            <a:br>
              <a:rPr lang="en-US" sz="1400" dirty="0">
                <a:solidFill>
                  <a:srgbClr val="666666"/>
                </a:solidFill>
              </a:rPr>
            </a:br>
            <a:r>
              <a:rPr sz="1400" b="0" i="0" dirty="0">
                <a:solidFill>
                  <a:srgbClr val="666666"/>
                </a:solidFill>
              </a:rPr>
              <a:t>Phase 3 </a:t>
            </a:r>
            <a:r>
              <a:rPr sz="1400" b="0" i="0" dirty="0" err="1">
                <a:solidFill>
                  <a:srgbClr val="666666"/>
                </a:solidFill>
              </a:rPr>
              <a:t>풀렌더링</a:t>
            </a:r>
            <a:endParaRPr sz="1400" b="0" i="0" dirty="0">
              <a:solidFill>
                <a:srgbClr val="666666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2221992"/>
            <a:ext cx="1005840" cy="329184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225002"/>
            <a:ext cx="2743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1A1A2E"/>
                </a:solidFill>
              </a:rPr>
              <a:t>실험</a:t>
            </a:r>
            <a:r>
              <a:rPr sz="1500" b="1" i="0" dirty="0">
                <a:solidFill>
                  <a:srgbClr val="1A1A2E"/>
                </a:solidFill>
              </a:rPr>
              <a:t> </a:t>
            </a:r>
            <a:r>
              <a:rPr sz="1500" b="1" i="0" dirty="0" err="1">
                <a:solidFill>
                  <a:srgbClr val="1A1A2E"/>
                </a:solidFill>
              </a:rPr>
              <a:t>조건</a:t>
            </a:r>
            <a:r>
              <a:rPr sz="1500" b="1" i="0" dirty="0">
                <a:solidFill>
                  <a:srgbClr val="1A1A2E"/>
                </a:solidFill>
              </a:rPr>
              <a:t> </a:t>
            </a:r>
            <a:r>
              <a:rPr lang="ko-KR" altLang="en-US" sz="1500" b="1" i="0" dirty="0">
                <a:solidFill>
                  <a:srgbClr val="1A1A2E"/>
                </a:solidFill>
              </a:rPr>
              <a:t>선택 기능</a:t>
            </a:r>
            <a:endParaRPr sz="1500" b="1" i="0" dirty="0">
              <a:solidFill>
                <a:srgbClr val="1A1A2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4840" y="2232696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</a:rPr>
              <a:t>대조군(1군) vs 실험군(2군) 자동 분기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26664"/>
            <a:ext cx="1005840" cy="329184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029674"/>
            <a:ext cx="2743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1A1A2E"/>
                </a:solidFill>
              </a:rPr>
              <a:t>LobbyScene</a:t>
            </a:r>
            <a:r>
              <a:rPr sz="1500" b="1" i="0" dirty="0">
                <a:solidFill>
                  <a:srgbClr val="1A1A2E"/>
                </a:solidFill>
              </a:rPr>
              <a:t>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037368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</a:rPr>
              <a:t>XR 컨트롤러로 조건 선택, 씬 간 조건 유지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79735"/>
            <a:ext cx="1005840" cy="329184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767328"/>
            <a:ext cx="2743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1A1A2E"/>
                </a:solidFill>
              </a:rPr>
              <a:t>피실험자</a:t>
            </a:r>
            <a:r>
              <a:rPr sz="1500" b="1" i="0" dirty="0">
                <a:solidFill>
                  <a:srgbClr val="1A1A2E"/>
                </a:solidFill>
              </a:rPr>
              <a:t> </a:t>
            </a:r>
            <a:r>
              <a:rPr sz="1500" b="1" i="0" dirty="0" err="1">
                <a:solidFill>
                  <a:srgbClr val="1A1A2E"/>
                </a:solidFill>
              </a:rPr>
              <a:t>행동</a:t>
            </a:r>
            <a:r>
              <a:rPr sz="1500" b="1" i="0" dirty="0">
                <a:solidFill>
                  <a:srgbClr val="1A1A2E"/>
                </a:solidFill>
              </a:rPr>
              <a:t> </a:t>
            </a:r>
            <a:r>
              <a:rPr sz="1500" b="1" i="0" dirty="0" err="1">
                <a:solidFill>
                  <a:srgbClr val="1A1A2E"/>
                </a:solidFill>
              </a:rPr>
              <a:t>통제</a:t>
            </a:r>
            <a:r>
              <a:rPr lang="ko-KR" altLang="en-US" sz="1500" b="1" dirty="0">
                <a:solidFill>
                  <a:srgbClr val="1A1A2E"/>
                </a:solidFill>
              </a:rPr>
              <a:t>를 위한</a:t>
            </a:r>
            <a:br>
              <a:rPr lang="en-US" altLang="ko-KR" sz="1500" b="1" dirty="0">
                <a:solidFill>
                  <a:srgbClr val="1A1A2E"/>
                </a:solidFill>
              </a:rPr>
            </a:br>
            <a:r>
              <a:rPr lang="ko-KR" altLang="en-US" sz="1500" b="1" dirty="0">
                <a:solidFill>
                  <a:srgbClr val="1A1A2E"/>
                </a:solidFill>
              </a:rPr>
              <a:t>안내 </a:t>
            </a:r>
            <a:r>
              <a:rPr lang="en-US" altLang="ko-KR" sz="1500" b="1" dirty="0">
                <a:solidFill>
                  <a:srgbClr val="1A1A2E"/>
                </a:solidFill>
              </a:rPr>
              <a:t>UI </a:t>
            </a:r>
            <a:r>
              <a:rPr lang="ko-KR" altLang="en-US" sz="1500" b="1" dirty="0">
                <a:solidFill>
                  <a:srgbClr val="1A1A2E"/>
                </a:solidFill>
              </a:rPr>
              <a:t>시스템</a:t>
            </a:r>
            <a:endParaRPr sz="1500" b="1" i="0" dirty="0">
              <a:solidFill>
                <a:srgbClr val="1A1A2E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34840" y="3782717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</a:rPr>
              <a:t>Phase별 안내 텍스트(InstructionUI) — 카메라 추적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36008"/>
            <a:ext cx="1005840" cy="329184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639018"/>
            <a:ext cx="2743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1A1A2E"/>
                </a:solidFill>
              </a:rPr>
              <a:t>AimTrainer</a:t>
            </a:r>
            <a:r>
              <a:rPr sz="1500" b="1" i="0" dirty="0">
                <a:solidFill>
                  <a:srgbClr val="1A1A2E"/>
                </a:solidFill>
              </a:rPr>
              <a:t> </a:t>
            </a:r>
            <a:r>
              <a:rPr sz="1500" b="1" i="0" dirty="0" err="1">
                <a:solidFill>
                  <a:srgbClr val="1A1A2E"/>
                </a:solidFill>
              </a:rPr>
              <a:t>콘텐츠</a:t>
            </a:r>
            <a:endParaRPr sz="1500" b="1" i="0" dirty="0">
              <a:solidFill>
                <a:srgbClr val="1A1A2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34840" y="4646712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</a:rPr>
              <a:t>랜덤 타겟 스폰, 명중률/반응시간 측정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40680"/>
            <a:ext cx="1005840" cy="329184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443690"/>
            <a:ext cx="2743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CSV 데이터 로깅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5451384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66666"/>
                </a:solidFill>
              </a:rPr>
              <a:t>Hit/Miss/Spawn </a:t>
            </a:r>
            <a:r>
              <a:rPr sz="1400" b="0" i="0" dirty="0" err="1">
                <a:solidFill>
                  <a:srgbClr val="666666"/>
                </a:solidFill>
              </a:rPr>
              <a:t>이벤트</a:t>
            </a:r>
            <a:r>
              <a:rPr lang="ko-KR" altLang="en-US" sz="1400" dirty="0">
                <a:solidFill>
                  <a:srgbClr val="666666"/>
                </a:solidFill>
              </a:rPr>
              <a:t> 및 실험 결과 저장</a:t>
            </a:r>
            <a:endParaRPr sz="1400" b="0" i="0" dirty="0">
              <a:solidFill>
                <a:srgbClr val="666666"/>
              </a:solidFill>
            </a:endParaRPr>
          </a:p>
        </p:txBody>
      </p:sp>
      <p:pic>
        <p:nvPicPr>
          <p:cNvPr id="23" name="Picture 22" descr="로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1" y="804993"/>
            <a:ext cx="3611880" cy="2042176"/>
          </a:xfrm>
          <a:prstGeom prst="rect">
            <a:avLst/>
          </a:prstGeom>
        </p:spPr>
      </p:pic>
      <p:pic>
        <p:nvPicPr>
          <p:cNvPr id="24" name="Picture 23" descr="대조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1" y="4809190"/>
            <a:ext cx="3611880" cy="1828800"/>
          </a:xfrm>
          <a:prstGeom prst="rect">
            <a:avLst/>
          </a:prstGeom>
        </p:spPr>
      </p:pic>
      <p:pic>
        <p:nvPicPr>
          <p:cNvPr id="26" name="Picture 9" descr="비교군.png">
            <a:extLst>
              <a:ext uri="{FF2B5EF4-FFF2-40B4-BE49-F238E27FC236}">
                <a16:creationId xmlns:a16="http://schemas.microsoft.com/office/drawing/2014/main" id="{884C9788-D787-D12B-DB66-2CB2D1222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1" y="2833951"/>
            <a:ext cx="3611880" cy="19752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+mj-ea"/>
                <a:ea typeface="+mj-ea"/>
              </a:rPr>
              <a:t>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+mj-ea"/>
                <a:ea typeface="+mj-ea"/>
              </a:rPr>
              <a:t>집단 간 설계(Between-Subjects) · 피실험자 16명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" y="2260300"/>
            <a:ext cx="3657600" cy="306053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406604"/>
            <a:ext cx="2011680" cy="384048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+mj-ea"/>
                <a:ea typeface="+mj-ea"/>
              </a:rPr>
              <a:t>1군 — 대조군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7812"/>
            <a:ext cx="3383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1A2E"/>
                </a:solidFill>
                <a:latin typeface="+mj-ea"/>
                <a:ea typeface="+mj-ea"/>
              </a:rPr>
              <a:t>HMD </a:t>
            </a:r>
            <a:r>
              <a:rPr sz="2000" b="1" i="0" dirty="0" err="1">
                <a:solidFill>
                  <a:srgbClr val="1A1A2E"/>
                </a:solidFill>
                <a:latin typeface="+mj-ea"/>
                <a:ea typeface="+mj-ea"/>
              </a:rPr>
              <a:t>착용</a:t>
            </a:r>
            <a:r>
              <a:rPr sz="2000" b="1" i="0" dirty="0">
                <a:solidFill>
                  <a:srgbClr val="1A1A2E"/>
                </a:solidFill>
                <a:latin typeface="+mj-ea"/>
                <a:ea typeface="+mj-ea"/>
              </a:rPr>
              <a:t>
</a:t>
            </a:r>
            <a:r>
              <a:rPr lang="en-US" sz="2000" b="1" i="0" dirty="0">
                <a:solidFill>
                  <a:srgbClr val="1A1A2E"/>
                </a:solidFill>
                <a:latin typeface="+mj-ea"/>
                <a:ea typeface="+mj-ea"/>
              </a:rPr>
              <a:t>-&gt;</a:t>
            </a:r>
            <a:r>
              <a:rPr sz="2000" b="1" i="0" dirty="0">
                <a:solidFill>
                  <a:srgbClr val="1A1A2E"/>
                </a:solidFill>
                <a:latin typeface="+mj-ea"/>
                <a:ea typeface="+mj-ea"/>
              </a:rPr>
              <a:t> </a:t>
            </a:r>
            <a:r>
              <a:rPr sz="2000" b="1" i="0" dirty="0" err="1">
                <a:solidFill>
                  <a:srgbClr val="1A1A2E"/>
                </a:solidFill>
                <a:latin typeface="+mj-ea"/>
                <a:ea typeface="+mj-ea"/>
              </a:rPr>
              <a:t>즉시</a:t>
            </a:r>
            <a:r>
              <a:rPr sz="2000" b="1" i="0" dirty="0">
                <a:solidFill>
                  <a:srgbClr val="1A1A2E"/>
                </a:solidFill>
                <a:latin typeface="+mj-ea"/>
                <a:ea typeface="+mj-ea"/>
              </a:rPr>
              <a:t> </a:t>
            </a:r>
            <a:r>
              <a:rPr sz="2000" b="1" i="0" dirty="0" err="1">
                <a:solidFill>
                  <a:srgbClr val="1A1A2E"/>
                </a:solidFill>
                <a:latin typeface="+mj-ea"/>
                <a:ea typeface="+mj-ea"/>
              </a:rPr>
              <a:t>AimTrainer</a:t>
            </a:r>
            <a:endParaRPr sz="2000" b="1" i="0" dirty="0">
              <a:solidFill>
                <a:srgbClr val="1A1A2E"/>
              </a:solidFill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3796492"/>
            <a:ext cx="338328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700" dirty="0">
                <a:solidFill>
                  <a:srgbClr val="1A1A2E"/>
                </a:solidFill>
                <a:latin typeface="+mj-ea"/>
                <a:ea typeface="+mj-ea"/>
              </a:rPr>
              <a:t>-</a:t>
            </a:r>
            <a:r>
              <a:rPr sz="1700" b="0" dirty="0">
                <a:solidFill>
                  <a:srgbClr val="1A1A2E"/>
                </a:solidFill>
                <a:latin typeface="+mj-ea"/>
                <a:ea typeface="+mj-ea"/>
              </a:rPr>
              <a:t> </a:t>
            </a:r>
            <a:r>
              <a:rPr sz="1700" b="0" dirty="0" err="1">
                <a:solidFill>
                  <a:srgbClr val="1A1A2E"/>
                </a:solidFill>
                <a:latin typeface="+mj-ea"/>
                <a:ea typeface="+mj-ea"/>
              </a:rPr>
              <a:t>적응</a:t>
            </a:r>
            <a:r>
              <a:rPr sz="1700" b="0" dirty="0">
                <a:solidFill>
                  <a:srgbClr val="1A1A2E"/>
                </a:solidFill>
                <a:latin typeface="+mj-ea"/>
                <a:ea typeface="+mj-ea"/>
              </a:rPr>
              <a:t> </a:t>
            </a:r>
            <a:r>
              <a:rPr sz="1700" b="0" dirty="0" err="1">
                <a:solidFill>
                  <a:srgbClr val="1A1A2E"/>
                </a:solidFill>
                <a:latin typeface="+mj-ea"/>
                <a:ea typeface="+mj-ea"/>
              </a:rPr>
              <a:t>절차</a:t>
            </a:r>
            <a:r>
              <a:rPr sz="1700" b="0" dirty="0">
                <a:solidFill>
                  <a:srgbClr val="1A1A2E"/>
                </a:solidFill>
                <a:latin typeface="+mj-ea"/>
                <a:ea typeface="+mj-ea"/>
              </a:rPr>
              <a:t> </a:t>
            </a:r>
            <a:r>
              <a:rPr sz="1700" b="0" dirty="0" err="1">
                <a:solidFill>
                  <a:srgbClr val="1A1A2E"/>
                </a:solidFill>
                <a:latin typeface="+mj-ea"/>
                <a:ea typeface="+mj-ea"/>
              </a:rPr>
              <a:t>없음</a:t>
            </a:r>
            <a:endParaRPr sz="1700" b="0" dirty="0">
              <a:solidFill>
                <a:srgbClr val="1A1A2E"/>
              </a:solidFill>
              <a:latin typeface="+mj-ea"/>
              <a:ea typeface="+mj-ea"/>
            </a:endParaRPr>
          </a:p>
          <a:p>
            <a:pPr algn="l"/>
            <a:endParaRPr sz="1700" b="0" dirty="0">
              <a:solidFill>
                <a:srgbClr val="1A1A2E"/>
              </a:solidFill>
              <a:latin typeface="+mj-ea"/>
              <a:ea typeface="+mj-ea"/>
            </a:endParaRPr>
          </a:p>
          <a:p>
            <a:pPr algn="l"/>
            <a:r>
              <a:rPr sz="1700" b="0" dirty="0">
                <a:solidFill>
                  <a:srgbClr val="1A1A2E"/>
                </a:solidFill>
                <a:latin typeface="+mj-ea"/>
                <a:ea typeface="+mj-ea"/>
              </a:rPr>
              <a:t>8명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4162252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66666"/>
                </a:solidFill>
                <a:latin typeface="+mj-ea"/>
                <a:ea typeface="+mj-ea"/>
              </a:rP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2260300"/>
            <a:ext cx="3657600" cy="3060538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0" y="2406604"/>
            <a:ext cx="2011680" cy="384048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+mj-ea"/>
                <a:ea typeface="+mj-ea"/>
              </a:rPr>
              <a:t>2군 — 실험군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927812"/>
            <a:ext cx="3383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1A2E"/>
                </a:solidFill>
                <a:latin typeface="+mj-ea"/>
                <a:ea typeface="+mj-ea"/>
              </a:rPr>
              <a:t>HMD </a:t>
            </a:r>
            <a:r>
              <a:rPr sz="2000" b="1" i="0" dirty="0" err="1">
                <a:solidFill>
                  <a:srgbClr val="1A1A2E"/>
                </a:solidFill>
                <a:latin typeface="+mj-ea"/>
                <a:ea typeface="+mj-ea"/>
              </a:rPr>
              <a:t>착용</a:t>
            </a:r>
            <a:r>
              <a:rPr sz="2000" b="1" i="0" dirty="0">
                <a:solidFill>
                  <a:srgbClr val="1A1A2E"/>
                </a:solidFill>
                <a:latin typeface="+mj-ea"/>
                <a:ea typeface="+mj-ea"/>
              </a:rPr>
              <a:t>
</a:t>
            </a:r>
            <a:r>
              <a:rPr lang="en-US" sz="2000" b="1" dirty="0">
                <a:solidFill>
                  <a:srgbClr val="1A1A2E"/>
                </a:solidFill>
                <a:latin typeface="+mj-ea"/>
                <a:ea typeface="+mj-ea"/>
              </a:rPr>
              <a:t>-&gt; </a:t>
            </a:r>
            <a:r>
              <a:rPr sz="2000" b="1" i="0" dirty="0">
                <a:solidFill>
                  <a:srgbClr val="1A1A2E"/>
                </a:solidFill>
                <a:latin typeface="+mj-ea"/>
                <a:ea typeface="+mj-ea"/>
              </a:rPr>
              <a:t>3단계 </a:t>
            </a:r>
            <a:r>
              <a:rPr sz="2000" b="1" i="0" dirty="0" err="1">
                <a:solidFill>
                  <a:srgbClr val="1A1A2E"/>
                </a:solidFill>
                <a:latin typeface="+mj-ea"/>
                <a:ea typeface="+mj-ea"/>
              </a:rPr>
              <a:t>적응</a:t>
            </a:r>
            <a:r>
              <a:rPr sz="2000" b="1" i="0" dirty="0">
                <a:solidFill>
                  <a:srgbClr val="1A1A2E"/>
                </a:solidFill>
                <a:latin typeface="+mj-ea"/>
                <a:ea typeface="+mj-ea"/>
              </a:rPr>
              <a:t> </a:t>
            </a:r>
            <a:endParaRPr lang="en-US" sz="2000" b="1" i="0" dirty="0">
              <a:solidFill>
                <a:srgbClr val="1A1A2E"/>
              </a:solidFill>
              <a:latin typeface="+mj-ea"/>
              <a:ea typeface="+mj-ea"/>
            </a:endParaRPr>
          </a:p>
          <a:p>
            <a:pPr algn="l"/>
            <a:r>
              <a:rPr lang="en-US" sz="2000" b="1" dirty="0">
                <a:solidFill>
                  <a:srgbClr val="1A1A2E"/>
                </a:solidFill>
                <a:latin typeface="+mj-ea"/>
                <a:ea typeface="+mj-ea"/>
              </a:rPr>
              <a:t>-&gt;</a:t>
            </a:r>
            <a:r>
              <a:rPr sz="2000" b="1" i="0" dirty="0">
                <a:solidFill>
                  <a:srgbClr val="1A1A2E"/>
                </a:solidFill>
                <a:latin typeface="+mj-ea"/>
                <a:ea typeface="+mj-ea"/>
              </a:rPr>
              <a:t> </a:t>
            </a:r>
            <a:r>
              <a:rPr sz="2000" b="1" i="0" dirty="0" err="1">
                <a:solidFill>
                  <a:srgbClr val="1A1A2E"/>
                </a:solidFill>
                <a:latin typeface="+mj-ea"/>
                <a:ea typeface="+mj-ea"/>
              </a:rPr>
              <a:t>AimTrainer</a:t>
            </a:r>
            <a:endParaRPr sz="2000" b="1" i="0" dirty="0">
              <a:solidFill>
                <a:srgbClr val="1A1A2E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0" y="3796492"/>
            <a:ext cx="338328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Tx/>
              <a:buChar char="-"/>
            </a:pPr>
            <a:r>
              <a:rPr sz="1700" b="0" dirty="0">
                <a:solidFill>
                  <a:srgbClr val="1A1A2E"/>
                </a:solidFill>
                <a:latin typeface="+mj-ea"/>
                <a:ea typeface="+mj-ea"/>
              </a:rPr>
              <a:t>Phase 1 (</a:t>
            </a:r>
            <a:r>
              <a:rPr lang="en-US" sz="1700" dirty="0">
                <a:solidFill>
                  <a:srgbClr val="1A1A2E"/>
                </a:solidFill>
                <a:latin typeface="+mj-ea"/>
                <a:ea typeface="+mj-ea"/>
              </a:rPr>
              <a:t>12</a:t>
            </a:r>
            <a:r>
              <a:rPr sz="1700" b="0" dirty="0">
                <a:solidFill>
                  <a:srgbClr val="1A1A2E"/>
                </a:solidFill>
                <a:latin typeface="+mj-ea"/>
                <a:ea typeface="+mj-ea"/>
              </a:rPr>
              <a:t>0s) </a:t>
            </a:r>
            <a:endParaRPr lang="en-US" sz="1700" dirty="0">
              <a:solidFill>
                <a:srgbClr val="1A1A2E"/>
              </a:solidFill>
              <a:latin typeface="+mj-ea"/>
              <a:ea typeface="+mj-ea"/>
            </a:endParaRPr>
          </a:p>
          <a:p>
            <a:pPr marL="285750" indent="-285750" algn="l">
              <a:buFontTx/>
              <a:buChar char="-"/>
            </a:pPr>
            <a:r>
              <a:rPr sz="1700" b="0" dirty="0">
                <a:solidFill>
                  <a:srgbClr val="1A1A2E"/>
                </a:solidFill>
                <a:latin typeface="+mj-ea"/>
                <a:ea typeface="+mj-ea"/>
              </a:rPr>
              <a:t>Phase 2 (</a:t>
            </a:r>
            <a:r>
              <a:rPr lang="en-US" sz="1700" dirty="0">
                <a:solidFill>
                  <a:srgbClr val="1A1A2E"/>
                </a:solidFill>
                <a:latin typeface="+mj-ea"/>
                <a:ea typeface="+mj-ea"/>
              </a:rPr>
              <a:t>12</a:t>
            </a:r>
            <a:r>
              <a:rPr sz="1700" b="0" dirty="0">
                <a:solidFill>
                  <a:srgbClr val="1A1A2E"/>
                </a:solidFill>
                <a:latin typeface="+mj-ea"/>
                <a:ea typeface="+mj-ea"/>
              </a:rPr>
              <a:t>0s)</a:t>
            </a:r>
            <a:endParaRPr lang="en-US" sz="1700" b="0" dirty="0">
              <a:solidFill>
                <a:srgbClr val="1A1A2E"/>
              </a:solidFill>
              <a:latin typeface="+mj-ea"/>
              <a:ea typeface="+mj-ea"/>
            </a:endParaRPr>
          </a:p>
          <a:p>
            <a:pPr marL="285750" indent="-285750" algn="l">
              <a:buFontTx/>
              <a:buChar char="-"/>
            </a:pPr>
            <a:r>
              <a:rPr sz="1700" b="0" dirty="0">
                <a:solidFill>
                  <a:srgbClr val="1A1A2E"/>
                </a:solidFill>
                <a:latin typeface="+mj-ea"/>
                <a:ea typeface="+mj-ea"/>
              </a:rPr>
              <a:t>Phase 3 (</a:t>
            </a:r>
            <a:r>
              <a:rPr lang="en-US" sz="1700" b="0" dirty="0">
                <a:solidFill>
                  <a:srgbClr val="1A1A2E"/>
                </a:solidFill>
                <a:latin typeface="+mj-ea"/>
                <a:ea typeface="+mj-ea"/>
              </a:rPr>
              <a:t>6</a:t>
            </a:r>
            <a:r>
              <a:rPr sz="1700" b="0" dirty="0">
                <a:solidFill>
                  <a:srgbClr val="1A1A2E"/>
                </a:solidFill>
                <a:latin typeface="+mj-ea"/>
                <a:ea typeface="+mj-ea"/>
              </a:rPr>
              <a:t>0s)  </a:t>
            </a:r>
            <a:endParaRPr lang="en-US" sz="1700" b="0" dirty="0">
              <a:solidFill>
                <a:srgbClr val="1A1A2E"/>
              </a:solidFill>
              <a:latin typeface="+mj-ea"/>
              <a:ea typeface="+mj-ea"/>
            </a:endParaRPr>
          </a:p>
          <a:p>
            <a:pPr marL="285750" indent="-285750" algn="l">
              <a:buFontTx/>
              <a:buChar char="-"/>
            </a:pPr>
            <a:r>
              <a:rPr sz="1700" b="0" dirty="0" err="1">
                <a:solidFill>
                  <a:srgbClr val="1A1A2E"/>
                </a:solidFill>
                <a:latin typeface="+mj-ea"/>
                <a:ea typeface="+mj-ea"/>
              </a:rPr>
              <a:t>AimTrainer</a:t>
            </a:r>
            <a:endParaRPr sz="1700" b="0" dirty="0">
              <a:solidFill>
                <a:srgbClr val="1A1A2E"/>
              </a:solidFill>
              <a:latin typeface="+mj-ea"/>
              <a:ea typeface="+mj-ea"/>
            </a:endParaRPr>
          </a:p>
          <a:p>
            <a:pPr algn="l"/>
            <a:r>
              <a:rPr sz="1700" b="0" dirty="0">
                <a:solidFill>
                  <a:srgbClr val="1A1A2E"/>
                </a:solidFill>
                <a:latin typeface="+mj-ea"/>
                <a:ea typeface="+mj-ea"/>
              </a:rPr>
              <a:t>8명</a:t>
            </a:r>
          </a:p>
        </p:txBody>
      </p:sp>
      <p:pic>
        <p:nvPicPr>
          <p:cNvPr id="14" name="Picture 13" descr="대조군 조준훈련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39" y="1828800"/>
            <a:ext cx="3389269" cy="1920586"/>
          </a:xfrm>
          <a:prstGeom prst="rect">
            <a:avLst/>
          </a:prstGeom>
        </p:spPr>
      </p:pic>
      <p:pic>
        <p:nvPicPr>
          <p:cNvPr id="15" name="Picture 14" descr="대조군 조준훈련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3931920"/>
            <a:ext cx="3383280" cy="23408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644652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+mj-ea"/>
                <a:ea typeface="+mj-ea"/>
              </a:rPr>
              <a:t>측정:  VRSQ(멀미)  ·  SSQ(증상)  ·  SUS(실재감)  ·  CSV 행동 로그(명중률, 반응시간)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맑은 고딕"/>
              </a:rPr>
              <a:t>앞으로 할 것들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8961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499616"/>
            <a:ext cx="1280160" cy="34747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맑은 고딕"/>
              </a:rPr>
              <a:t>1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57400" y="1353312"/>
            <a:ext cx="4114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1A1A2E"/>
                </a:solidFill>
                <a:latin typeface="맑은 고딕"/>
              </a:rPr>
              <a:t>Phase 1</a:t>
            </a:r>
            <a:r>
              <a:rPr lang="en-US" sz="1700" b="1" i="0" dirty="0">
                <a:solidFill>
                  <a:srgbClr val="1A1A2E"/>
                </a:solidFill>
                <a:latin typeface="맑은 고딕"/>
              </a:rPr>
              <a:t>-</a:t>
            </a:r>
            <a:r>
              <a:rPr sz="1700" b="1" i="0" dirty="0">
                <a:solidFill>
                  <a:srgbClr val="1A1A2E"/>
                </a:solidFill>
                <a:latin typeface="맑은 고딕"/>
              </a:rPr>
              <a:t>2 </a:t>
            </a:r>
            <a:r>
              <a:rPr sz="1700" b="1" i="0" dirty="0" err="1">
                <a:solidFill>
                  <a:srgbClr val="1A1A2E"/>
                </a:solidFill>
                <a:latin typeface="맑은 고딕"/>
              </a:rPr>
              <a:t>몰입</a:t>
            </a:r>
            <a:r>
              <a:rPr sz="17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1A1A2E"/>
                </a:solidFill>
                <a:latin typeface="맑은 고딕"/>
              </a:rPr>
              <a:t>시나리오</a:t>
            </a:r>
            <a:r>
              <a:rPr sz="17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1A1A2E"/>
                </a:solidFill>
                <a:latin typeface="맑은 고딕"/>
              </a:rPr>
              <a:t>강화</a:t>
            </a:r>
            <a:endParaRPr sz="1700" b="1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57400" y="1764792"/>
            <a:ext cx="8961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666666"/>
                </a:solidFill>
                <a:latin typeface="맑은 고딕"/>
              </a:rPr>
              <a:t>어둠</a:t>
            </a:r>
            <a:r>
              <a:rPr sz="1400" b="0" i="0" dirty="0">
                <a:solidFill>
                  <a:srgbClr val="666666"/>
                </a:solidFill>
                <a:latin typeface="맑은 고딕"/>
              </a:rPr>
              <a:t> 속 3D </a:t>
            </a:r>
            <a:r>
              <a:rPr sz="1400" b="0" i="0" dirty="0" err="1">
                <a:solidFill>
                  <a:srgbClr val="666666"/>
                </a:solidFill>
                <a:latin typeface="맑은 고딕"/>
              </a:rPr>
              <a:t>공간음</a:t>
            </a:r>
            <a:r>
              <a:rPr lang="en-US" sz="1400" b="0" i="0" dirty="0">
                <a:solidFill>
                  <a:srgbClr val="666666"/>
                </a:solidFill>
                <a:latin typeface="맑은 고딕"/>
              </a:rPr>
              <a:t>, </a:t>
            </a:r>
            <a:r>
              <a:rPr lang="ko-KR" altLang="en-US" sz="1400" b="0" i="0" dirty="0">
                <a:solidFill>
                  <a:srgbClr val="666666"/>
                </a:solidFill>
                <a:latin typeface="맑은 고딕"/>
              </a:rPr>
              <a:t>각 </a:t>
            </a:r>
            <a:r>
              <a:rPr lang="en-US" altLang="ko-KR" sz="1400" b="0" i="0" dirty="0">
                <a:solidFill>
                  <a:srgbClr val="666666"/>
                </a:solidFill>
                <a:latin typeface="맑은 고딕"/>
              </a:rPr>
              <a:t>Phase</a:t>
            </a:r>
            <a:r>
              <a:rPr lang="ko-KR" altLang="en-US" sz="1400" b="0" i="0" dirty="0">
                <a:solidFill>
                  <a:srgbClr val="666666"/>
                </a:solidFill>
                <a:latin typeface="맑은 고딕"/>
              </a:rPr>
              <a:t>별 공간 인식 및 예측치 생성 관련한 연출 추가</a:t>
            </a:r>
            <a:r>
              <a:rPr sz="1400" b="0" i="0" dirty="0">
                <a:solidFill>
                  <a:srgbClr val="666666"/>
                </a:solidFill>
                <a:latin typeface="맑은 고딕"/>
              </a:rPr>
              <a:t>  /  </a:t>
            </a:r>
            <a:r>
              <a:rPr sz="1400" b="0" i="0" dirty="0" err="1">
                <a:solidFill>
                  <a:srgbClr val="666666"/>
                </a:solidFill>
                <a:latin typeface="맑은 고딕"/>
              </a:rPr>
              <a:t>행동</a:t>
            </a:r>
            <a:r>
              <a:rPr sz="1400" b="0" i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666666"/>
                </a:solidFill>
                <a:latin typeface="맑은 고딕"/>
              </a:rPr>
              <a:t>유도</a:t>
            </a:r>
            <a:r>
              <a:rPr sz="1400" b="0" i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666666"/>
                </a:solidFill>
                <a:latin typeface="맑은 고딕"/>
              </a:rPr>
              <a:t>시나리오</a:t>
            </a:r>
            <a:endParaRPr sz="1400" b="0" i="0" dirty="0">
              <a:solidFill>
                <a:srgbClr val="666666"/>
              </a:solidFill>
              <a:latin typeface="맑은 고딕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2267712"/>
            <a:ext cx="11274552" cy="8961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2505456"/>
            <a:ext cx="1280160" cy="347472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맑은 고딕"/>
              </a:rPr>
              <a:t>2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7400" y="2359152"/>
            <a:ext cx="4114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700" b="1" i="0" dirty="0">
                <a:solidFill>
                  <a:srgbClr val="1A1A2E"/>
                </a:solidFill>
                <a:latin typeface="맑은 고딕"/>
              </a:rPr>
              <a:t>렌더링 레벨 구체화</a:t>
            </a:r>
            <a:endParaRPr sz="1700" b="1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7400" y="2770632"/>
            <a:ext cx="8961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666666"/>
                </a:solidFill>
                <a:latin typeface="맑은 고딕"/>
              </a:rPr>
              <a:t>구체</a:t>
            </a:r>
            <a:r>
              <a:rPr sz="1400" b="0" i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666666"/>
                </a:solidFill>
                <a:latin typeface="맑은 고딕"/>
              </a:rPr>
              <a:t>타겟</a:t>
            </a:r>
            <a:r>
              <a:rPr sz="1400" b="0" i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lang="en-US" sz="1400" b="0" i="0" dirty="0">
                <a:solidFill>
                  <a:srgbClr val="666666"/>
                </a:solidFill>
                <a:latin typeface="맑은 고딕"/>
              </a:rPr>
              <a:t>-&gt;</a:t>
            </a:r>
            <a:r>
              <a:rPr sz="1400" b="0" i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lang="ko-KR" altLang="en-US" sz="1400" b="0" i="0" dirty="0">
                <a:solidFill>
                  <a:srgbClr val="666666"/>
                </a:solidFill>
                <a:latin typeface="맑은 고딕"/>
              </a:rPr>
              <a:t>캐릭터 메시 </a:t>
            </a:r>
            <a:r>
              <a:rPr lang="en-US" altLang="ko-KR" sz="1400" b="0" i="0" dirty="0">
                <a:solidFill>
                  <a:srgbClr val="666666"/>
                </a:solidFill>
                <a:latin typeface="맑은 고딕"/>
              </a:rPr>
              <a:t>, </a:t>
            </a:r>
            <a:r>
              <a:rPr lang="ko-KR" altLang="en-US" sz="1400" b="0" i="0" dirty="0">
                <a:solidFill>
                  <a:srgbClr val="666666"/>
                </a:solidFill>
                <a:latin typeface="맑은 고딕"/>
              </a:rPr>
              <a:t>더 다양한 물체 및 맵 </a:t>
            </a:r>
            <a:r>
              <a:rPr lang="ko-KR" altLang="en-US" sz="1400" b="0" i="0" dirty="0" err="1">
                <a:solidFill>
                  <a:srgbClr val="666666"/>
                </a:solidFill>
                <a:latin typeface="맑은 고딕"/>
              </a:rPr>
              <a:t>텍스쳐</a:t>
            </a:r>
            <a:r>
              <a:rPr lang="ko-KR" altLang="en-US" sz="1400" b="0" i="0" dirty="0">
                <a:solidFill>
                  <a:srgbClr val="666666"/>
                </a:solidFill>
                <a:latin typeface="맑은 고딕"/>
              </a:rPr>
              <a:t> 적용</a:t>
            </a:r>
            <a:endParaRPr sz="1400" b="0" i="0" dirty="0">
              <a:solidFill>
                <a:srgbClr val="666666"/>
              </a:solidFill>
              <a:latin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3273552"/>
            <a:ext cx="11274552" cy="8961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3511296"/>
            <a:ext cx="1280160" cy="347472"/>
          </a:xfrm>
          <a:prstGeom prst="rect">
            <a:avLst/>
          </a:prstGeom>
          <a:solidFill>
            <a:srgbClr val="CC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맑은 고딕"/>
              </a:rPr>
              <a:t>3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57400" y="3364992"/>
            <a:ext cx="4114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1A1A2E"/>
                </a:solidFill>
                <a:latin typeface="맑은 고딕"/>
              </a:rPr>
              <a:t>SSQ</a:t>
            </a:r>
            <a:r>
              <a:rPr lang="en-US" sz="17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1A1A2E"/>
                </a:solidFill>
                <a:latin typeface="맑은 고딕"/>
              </a:rPr>
              <a:t>설문</a:t>
            </a:r>
            <a:r>
              <a:rPr sz="17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1A1A2E"/>
                </a:solidFill>
                <a:latin typeface="맑은 고딕"/>
              </a:rPr>
              <a:t>시스템</a:t>
            </a:r>
            <a:endParaRPr sz="1700" b="1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57400" y="37764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맑은 고딕"/>
              </a:rPr>
              <a:t>실험 전후 설문 자동 진행 및 CSV 병합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79392"/>
            <a:ext cx="11274552" cy="8961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4517136"/>
            <a:ext cx="1280160" cy="347472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맑은 고딕"/>
              </a:rPr>
              <a:t>4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7400" y="43708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맑은 고딕"/>
              </a:rPr>
              <a:t>본 실험 진행  (16명)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78231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66666"/>
                </a:solidFill>
                <a:latin typeface="맑은 고딕"/>
              </a:rPr>
              <a:t>1군 8명 · 2군 8명  /  </a:t>
            </a:r>
            <a:r>
              <a:rPr sz="1400" b="0" i="0" dirty="0" err="1">
                <a:solidFill>
                  <a:srgbClr val="666666"/>
                </a:solidFill>
                <a:latin typeface="맑은 고딕"/>
              </a:rPr>
              <a:t>데이터</a:t>
            </a:r>
            <a:r>
              <a:rPr sz="1400" b="0" i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666666"/>
                </a:solidFill>
                <a:latin typeface="맑은 고딕"/>
              </a:rPr>
              <a:t>수집</a:t>
            </a:r>
            <a:endParaRPr sz="1400" b="0" i="0" dirty="0">
              <a:solidFill>
                <a:srgbClr val="666666"/>
              </a:solidFill>
              <a:latin typeface="맑은 고딕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5285232"/>
            <a:ext cx="11274552" cy="8961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5522976"/>
            <a:ext cx="128016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맑은 고딕"/>
              </a:rPr>
              <a:t>5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57400" y="53766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맑은 고딕"/>
              </a:rPr>
              <a:t>데이터 분석 및 논문 작성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78815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맑은 고딕"/>
              </a:rPr>
              <a:t>Independent t-test  /  상관 분석  /  고찰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 err="1">
                <a:solidFill>
                  <a:srgbClr val="1A1A2E"/>
                </a:solidFill>
                <a:latin typeface="맑은 고딕"/>
              </a:rPr>
              <a:t>역할</a:t>
            </a:r>
            <a:r>
              <a:rPr sz="30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3000" b="1" i="0" dirty="0" err="1">
                <a:solidFill>
                  <a:srgbClr val="1A1A2E"/>
                </a:solidFill>
                <a:latin typeface="맑은 고딕"/>
              </a:rPr>
              <a:t>분담</a:t>
            </a:r>
            <a:endParaRPr sz="3000" b="1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맑은 고딕"/>
              </a:rPr>
              <a:t>공통: 연구 설계 · 선행 연구 · 실험 진행 · 데이터 분석 · 논문 작성 · 발표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3566160" cy="5166360"/>
          </a:xfrm>
          <a:prstGeom prst="rect">
            <a:avLst/>
          </a:prstGeom>
          <a:solidFill>
            <a:srgbClr val="F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1792" y="1444752"/>
            <a:ext cx="1371600" cy="3657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PM / 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20240"/>
            <a:ext cx="32369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600" b="1" i="0" dirty="0">
                <a:solidFill>
                  <a:srgbClr val="1A1A2E"/>
                </a:solidFill>
                <a:latin typeface="맑은 고딕"/>
              </a:rPr>
              <a:t>이수민</a:t>
            </a:r>
            <a:endParaRPr sz="2600" b="1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3200400" cy="1905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724912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Unity 아키텍처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401568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적응 셰이더 · Phase 관리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78224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실험 분기 로직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754880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LobbyScene · InstructionUI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431536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시각 단계 전환 시스템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298448"/>
            <a:ext cx="35661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07992" y="1444752"/>
            <a:ext cx="1371600" cy="365760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Lead 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920240"/>
            <a:ext cx="32369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600" b="1" i="0" dirty="0" err="1">
                <a:solidFill>
                  <a:srgbClr val="1A1A2E"/>
                </a:solidFill>
                <a:latin typeface="맑은 고딕"/>
              </a:rPr>
              <a:t>곽경</a:t>
            </a:r>
            <a:r>
              <a:rPr lang="ko-KR" altLang="en-US" sz="2600" b="1" dirty="0" err="1">
                <a:solidFill>
                  <a:srgbClr val="1A1A2E"/>
                </a:solidFill>
                <a:latin typeface="맑은 고딕"/>
              </a:rPr>
              <a:t>민</a:t>
            </a:r>
            <a:endParaRPr sz="2600" b="1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26280" y="2606040"/>
            <a:ext cx="3200399" cy="19050"/>
          </a:xfrm>
          <a:prstGeom prst="rect">
            <a:avLst/>
          </a:prstGeom>
          <a:solidFill>
            <a:srgbClr val="16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44568" y="2724912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AimTrainer 콘텐츠 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401568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타겟 시스템 · HUD · 사격 로직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078224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데이터 로깅 파이프라인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754880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VR 사용자 조작 · 씬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5431536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향후: 공간 음향 시나리오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298448"/>
            <a:ext cx="3566160" cy="5166360"/>
          </a:xfrm>
          <a:prstGeom prst="rect">
            <a:avLst/>
          </a:prstGeom>
          <a:solidFill>
            <a:srgbClr val="EE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94192" y="1444752"/>
            <a:ext cx="1371600" cy="365760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UI / Env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1920240"/>
            <a:ext cx="32369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600" b="1" i="0" dirty="0">
                <a:solidFill>
                  <a:srgbClr val="1A1A2E"/>
                </a:solidFill>
                <a:latin typeface="맑은 고딕"/>
              </a:rPr>
              <a:t>정근녕</a:t>
            </a:r>
            <a:endParaRPr sz="2600" b="1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412480" y="2606040"/>
            <a:ext cx="3200400" cy="19050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0768" y="2724912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CQB 맵 환경 디자인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3401568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인터랙션 시스템 구현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078224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향후: 적 캐릭터 메시 구현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4754880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피실험자 모집 · 일정 조율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5431536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맑은 고딕"/>
              </a:rPr>
              <a:t>• 렌더링 연구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A1A2E"/>
                </a:solidFill>
                <a:latin typeface="맑은 고딕"/>
              </a:rPr>
              <a:t>감사합니다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383280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66666"/>
                </a:solidFill>
                <a:latin typeface="맑은 고딕"/>
              </a:rPr>
              <a:t>VR 멀미 저감을 위한 교차 감각 기반 점진적 시각 동기화 기법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  <a:latin typeface="맑은 고딕"/>
              </a:rPr>
              <a:t>3팀  |  정근녕  ·  이수민  ·  곽경민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맑은 고딕"/>
              </a:rPr>
              <a:t>건국대학교 가상현실[3221]  |  2026년 5월 19일  |  담당: 김형석 교수님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2">
      <a:majorFont>
        <a:latin typeface="Pretendard"/>
        <a:ea typeface="Pretendar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923</Words>
  <Application>Microsoft Office PowerPoint</Application>
  <PresentationFormat>사용자 지정</PresentationFormat>
  <Paragraphs>170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Pretendard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정근녕</cp:lastModifiedBy>
  <cp:revision>95</cp:revision>
  <dcterms:created xsi:type="dcterms:W3CDTF">2013-01-27T09:14:16Z</dcterms:created>
  <dcterms:modified xsi:type="dcterms:W3CDTF">2026-05-18T06:22:22Z</dcterms:modified>
  <cp:category/>
</cp:coreProperties>
</file>